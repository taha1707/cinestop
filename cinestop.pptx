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handoutMasterIdLst>
    <p:handoutMasterId r:id="rId15"/>
  </p:handoutMasterIdLst>
  <p:sldIdLst>
    <p:sldId id="256" r:id="rId2"/>
    <p:sldId id="257" r:id="rId3"/>
    <p:sldId id="258" r:id="rId4"/>
    <p:sldId id="259" r:id="rId5"/>
    <p:sldId id="260" r:id="rId6"/>
    <p:sldId id="261" r:id="rId7"/>
    <p:sldId id="262" r:id="rId8"/>
    <p:sldId id="263" r:id="rId9"/>
    <p:sldId id="264" r:id="rId10"/>
    <p:sldId id="265" r:id="rId11"/>
    <p:sldId id="267" r:id="rId12"/>
    <p:sldId id="269" r:id="rId13"/>
    <p:sldId id="26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6" d="100"/>
          <a:sy n="66" d="100"/>
        </p:scale>
        <p:origin x="668" y="104"/>
      </p:cViewPr>
      <p:guideLst/>
    </p:cSldViewPr>
  </p:slideViewPr>
  <p:notesTextViewPr>
    <p:cViewPr>
      <p:scale>
        <a:sx n="1" d="1"/>
        <a:sy n="1" d="1"/>
      </p:scale>
      <p:origin x="0" y="0"/>
    </p:cViewPr>
  </p:notesTextViewPr>
  <p:notesViewPr>
    <p:cSldViewPr snapToGrid="0">
      <p:cViewPr varScale="1">
        <p:scale>
          <a:sx n="52" d="100"/>
          <a:sy n="52" d="100"/>
        </p:scale>
        <p:origin x="2680" y="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KHATRI\Downloads\cinestop.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KHATRI\Downloads\cinestop.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[cinestop.xlsx]Chart 1!PivotTable1</c:name>
    <c:fmtId val="24"/>
  </c:pivotSource>
  <c:chart>
    <c:title>
      <c:layout/>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pivotFmt>
      <c:pivotFmt>
        <c:idx val="1"/>
        <c:spPr>
          <a:solidFill>
            <a:schemeClr val="accent1"/>
          </a:solidFill>
          <a:ln>
            <a:noFill/>
          </a:ln>
          <a:effectLst/>
          <a:scene3d>
            <a:camera prst="orthographicFront">
              <a:rot lat="0" lon="0" rev="0"/>
            </a:camera>
            <a:lightRig rig="threePt" dir="tl"/>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cene3d>
            <a:camera prst="orthographicFront">
              <a:rot lat="0" lon="0" rev="0"/>
            </a:camera>
            <a:lightRig rig="threePt" dir="tl"/>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cene3d>
            <a:camera prst="orthographicFront">
              <a:rot lat="0" lon="0" rev="0"/>
            </a:camera>
            <a:lightRig rig="threePt" dir="tl"/>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stacked"/>
        <c:varyColors val="0"/>
        <c:ser>
          <c:idx val="0"/>
          <c:order val="0"/>
          <c:tx>
            <c:strRef>
              <c:f>'Chart 1'!$B$3</c:f>
              <c:strCache>
                <c:ptCount val="1"/>
                <c:pt idx="0">
                  <c:v>Total</c:v>
                </c:pt>
              </c:strCache>
            </c:strRef>
          </c:tx>
          <c:spPr>
            <a:gradFill rotWithShape="1">
              <a:gsLst>
                <a:gs pos="0">
                  <a:schemeClr val="accent1">
                    <a:tint val="98000"/>
                    <a:lumMod val="114000"/>
                  </a:schemeClr>
                </a:gs>
                <a:gs pos="100000">
                  <a:schemeClr val="accent1">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'Chart 1'!$A$4:$A$16</c:f>
              <c:strCache>
                <c:ptCount val="12"/>
                <c:pt idx="0">
                  <c:v>Action</c:v>
                </c:pt>
                <c:pt idx="1">
                  <c:v>Action </c:v>
                </c:pt>
                <c:pt idx="2">
                  <c:v>Adventure</c:v>
                </c:pt>
                <c:pt idx="3">
                  <c:v>Animation</c:v>
                </c:pt>
                <c:pt idx="4">
                  <c:v>Comedy</c:v>
                </c:pt>
                <c:pt idx="5">
                  <c:v>Drama</c:v>
                </c:pt>
                <c:pt idx="6">
                  <c:v>History</c:v>
                </c:pt>
                <c:pt idx="7">
                  <c:v>Horror</c:v>
                </c:pt>
                <c:pt idx="8">
                  <c:v>Mystery</c:v>
                </c:pt>
                <c:pt idx="9">
                  <c:v>Science Fiction</c:v>
                </c:pt>
                <c:pt idx="10">
                  <c:v>Sport</c:v>
                </c:pt>
                <c:pt idx="11">
                  <c:v>Thriller</c:v>
                </c:pt>
              </c:strCache>
            </c:strRef>
          </c:cat>
          <c:val>
            <c:numRef>
              <c:f>'Chart 1'!$B$4:$B$16</c:f>
              <c:numCache>
                <c:formatCode>General</c:formatCode>
                <c:ptCount val="12"/>
                <c:pt idx="0">
                  <c:v>12</c:v>
                </c:pt>
                <c:pt idx="1">
                  <c:v>1</c:v>
                </c:pt>
                <c:pt idx="2">
                  <c:v>7</c:v>
                </c:pt>
                <c:pt idx="3">
                  <c:v>1</c:v>
                </c:pt>
                <c:pt idx="4">
                  <c:v>8</c:v>
                </c:pt>
                <c:pt idx="5">
                  <c:v>2</c:v>
                </c:pt>
                <c:pt idx="6">
                  <c:v>1</c:v>
                </c:pt>
                <c:pt idx="7">
                  <c:v>6</c:v>
                </c:pt>
                <c:pt idx="8">
                  <c:v>1</c:v>
                </c:pt>
                <c:pt idx="9">
                  <c:v>2</c:v>
                </c:pt>
                <c:pt idx="10">
                  <c:v>1</c:v>
                </c:pt>
                <c:pt idx="11">
                  <c:v>1</c:v>
                </c:pt>
              </c:numCache>
            </c:numRef>
          </c:val>
          <c:extLst>
            <c:ext xmlns:c16="http://schemas.microsoft.com/office/drawing/2014/chart" uri="{C3380CC4-5D6E-409C-BE32-E72D297353CC}">
              <c16:uniqueId val="{00000000-BBA3-4367-A918-1E41834118B0}"/>
            </c:ext>
          </c:extLst>
        </c:ser>
        <c:dLbls>
          <c:showLegendKey val="0"/>
          <c:showVal val="1"/>
          <c:showCatName val="0"/>
          <c:showSerName val="0"/>
          <c:showPercent val="0"/>
          <c:showBubbleSize val="0"/>
        </c:dLbls>
        <c:gapWidth val="150"/>
        <c:shape val="box"/>
        <c:axId val="1408440703"/>
        <c:axId val="1408461503"/>
        <c:axId val="0"/>
      </c:bar3DChart>
      <c:catAx>
        <c:axId val="1408440703"/>
        <c:scaling>
          <c:orientation val="minMax"/>
        </c:scaling>
        <c:delete val="0"/>
        <c:axPos val="l"/>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08461503"/>
        <c:crosses val="autoZero"/>
        <c:auto val="1"/>
        <c:lblAlgn val="ctr"/>
        <c:lblOffset val="100"/>
        <c:noMultiLvlLbl val="0"/>
      </c:catAx>
      <c:valAx>
        <c:axId val="140846150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08440703"/>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[cinestop.xlsx]Chart 2!PivotTable3</c:name>
    <c:fmtId val="29"/>
  </c:pivotSource>
  <c:chart>
    <c:title>
      <c:layout/>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dLbl>
          <c:idx val="0"/>
          <c:dLblPos val="bestFit"/>
          <c:showLegendKey val="0"/>
          <c:showVal val="1"/>
          <c:showCatName val="0"/>
          <c:showSerName val="0"/>
          <c:showPercent val="0"/>
          <c:showBubbleSize val="0"/>
          <c:extLst>
            <c:ext xmlns:c15="http://schemas.microsoft.com/office/drawing/2012/chart" uri="{CE6537A1-D6FC-4f65-9D91-7224C49458BB}"/>
          </c:extLst>
        </c:dLbl>
      </c:pivotFmt>
      <c:pivotFmt>
        <c:idx val="1"/>
        <c:dLbl>
          <c:idx val="0"/>
          <c:dLblPos val="bestFi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21"/>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22"/>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23"/>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24"/>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25"/>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26"/>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27"/>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28"/>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29"/>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30"/>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31"/>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32"/>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33"/>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34"/>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35"/>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36"/>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37"/>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38"/>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39"/>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40"/>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41"/>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42"/>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43"/>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44"/>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45"/>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46"/>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47"/>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48"/>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49"/>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50"/>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51"/>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52"/>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53"/>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54"/>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
        <c:idx val="55"/>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extLst>
        </c:dLbl>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'Chart 2'!$B$3</c:f>
              <c:strCache>
                <c:ptCount val="1"/>
                <c:pt idx="0">
                  <c:v>Count of Movie Title</c:v>
                </c:pt>
              </c:strCache>
            </c:strRef>
          </c:tx>
          <c:dPt>
            <c:idx val="0"/>
            <c:bubble3D val="0"/>
            <c:spPr>
              <a:gradFill rotWithShape="1">
                <a:gsLst>
                  <a:gs pos="0">
                    <a:schemeClr val="accent1">
                      <a:tint val="98000"/>
                      <a:lumMod val="114000"/>
                    </a:schemeClr>
                  </a:gs>
                  <a:gs pos="100000">
                    <a:schemeClr val="accent1">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01-435D-44ED-B1DE-D734B4B30E23}"/>
              </c:ext>
            </c:extLst>
          </c:dPt>
          <c:dPt>
            <c:idx val="1"/>
            <c:bubble3D val="0"/>
            <c:spPr>
              <a:gradFill rotWithShape="1">
                <a:gsLst>
                  <a:gs pos="0">
                    <a:schemeClr val="accent2">
                      <a:tint val="98000"/>
                      <a:lumMod val="114000"/>
                    </a:schemeClr>
                  </a:gs>
                  <a:gs pos="100000">
                    <a:schemeClr val="accent2">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03-435D-44ED-B1DE-D734B4B30E23}"/>
              </c:ext>
            </c:extLst>
          </c:dPt>
          <c:dPt>
            <c:idx val="2"/>
            <c:bubble3D val="0"/>
            <c:spPr>
              <a:gradFill rotWithShape="1">
                <a:gsLst>
                  <a:gs pos="0">
                    <a:schemeClr val="accent3">
                      <a:tint val="98000"/>
                      <a:lumMod val="114000"/>
                    </a:schemeClr>
                  </a:gs>
                  <a:gs pos="100000">
                    <a:schemeClr val="accent3">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05-435D-44ED-B1DE-D734B4B30E23}"/>
              </c:ext>
            </c:extLst>
          </c:dPt>
          <c:dPt>
            <c:idx val="3"/>
            <c:bubble3D val="0"/>
            <c:spPr>
              <a:gradFill rotWithShape="1">
                <a:gsLst>
                  <a:gs pos="0">
                    <a:schemeClr val="accent4">
                      <a:tint val="98000"/>
                      <a:lumMod val="114000"/>
                    </a:schemeClr>
                  </a:gs>
                  <a:gs pos="100000">
                    <a:schemeClr val="accent4">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07-435D-44ED-B1DE-D734B4B30E23}"/>
              </c:ext>
            </c:extLst>
          </c:dPt>
          <c:dPt>
            <c:idx val="4"/>
            <c:bubble3D val="0"/>
            <c:spPr>
              <a:gradFill rotWithShape="1">
                <a:gsLst>
                  <a:gs pos="0">
                    <a:schemeClr val="accent5">
                      <a:tint val="98000"/>
                      <a:lumMod val="114000"/>
                    </a:schemeClr>
                  </a:gs>
                  <a:gs pos="100000">
                    <a:schemeClr val="accent5">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09-435D-44ED-B1DE-D734B4B30E23}"/>
              </c:ext>
            </c:extLst>
          </c:dPt>
          <c:dPt>
            <c:idx val="5"/>
            <c:bubble3D val="0"/>
            <c:spPr>
              <a:gradFill rotWithShape="1">
                <a:gsLst>
                  <a:gs pos="0">
                    <a:schemeClr val="accent6">
                      <a:tint val="98000"/>
                      <a:lumMod val="114000"/>
                    </a:schemeClr>
                  </a:gs>
                  <a:gs pos="100000">
                    <a:schemeClr val="accent6">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0B-435D-44ED-B1DE-D734B4B30E23}"/>
              </c:ext>
            </c:extLst>
          </c:dPt>
          <c:dPt>
            <c:idx val="6"/>
            <c:bubble3D val="0"/>
            <c:spPr>
              <a:gradFill rotWithShape="1">
                <a:gsLst>
                  <a:gs pos="0">
                    <a:schemeClr val="accent1">
                      <a:lumMod val="60000"/>
                      <a:tint val="98000"/>
                      <a:lumMod val="114000"/>
                    </a:schemeClr>
                  </a:gs>
                  <a:gs pos="100000">
                    <a:schemeClr val="accent1">
                      <a:lumMod val="6000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0D-435D-44ED-B1DE-D734B4B30E23}"/>
              </c:ext>
            </c:extLst>
          </c:dPt>
          <c:dPt>
            <c:idx val="7"/>
            <c:bubble3D val="0"/>
            <c:spPr>
              <a:gradFill rotWithShape="1">
                <a:gsLst>
                  <a:gs pos="0">
                    <a:schemeClr val="accent2">
                      <a:lumMod val="60000"/>
                      <a:tint val="98000"/>
                      <a:lumMod val="114000"/>
                    </a:schemeClr>
                  </a:gs>
                  <a:gs pos="100000">
                    <a:schemeClr val="accent2">
                      <a:lumMod val="6000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0F-435D-44ED-B1DE-D734B4B30E23}"/>
              </c:ext>
            </c:extLst>
          </c:dPt>
          <c:dLbls>
            <c:dLbl>
              <c:idx val="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1"/>
              <c:showSerName val="0"/>
              <c:showPercent val="0"/>
              <c:showBubbleSize val="0"/>
              <c:extLst>
                <c:ext xmlns:c16="http://schemas.microsoft.com/office/drawing/2014/chart" uri="{C3380CC4-5D6E-409C-BE32-E72D297353CC}">
                  <c16:uniqueId val="{00000001-435D-44ED-B1DE-D734B4B30E23}"/>
                </c:ext>
              </c:extLst>
            </c:dLbl>
            <c:dLbl>
              <c:idx val="1"/>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1"/>
              <c:showSerName val="0"/>
              <c:showPercent val="0"/>
              <c:showBubbleSize val="0"/>
              <c:extLst>
                <c:ext xmlns:c16="http://schemas.microsoft.com/office/drawing/2014/chart" uri="{C3380CC4-5D6E-409C-BE32-E72D297353CC}">
                  <c16:uniqueId val="{00000003-435D-44ED-B1DE-D734B4B30E23}"/>
                </c:ext>
              </c:extLst>
            </c:dLbl>
            <c:dLbl>
              <c:idx val="2"/>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1"/>
              <c:showSerName val="0"/>
              <c:showPercent val="0"/>
              <c:showBubbleSize val="0"/>
              <c:extLst>
                <c:ext xmlns:c16="http://schemas.microsoft.com/office/drawing/2014/chart" uri="{C3380CC4-5D6E-409C-BE32-E72D297353CC}">
                  <c16:uniqueId val="{00000005-435D-44ED-B1DE-D734B4B30E23}"/>
                </c:ext>
              </c:extLst>
            </c:dLbl>
            <c:dLbl>
              <c:idx val="3"/>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1"/>
              <c:showSerName val="0"/>
              <c:showPercent val="0"/>
              <c:showBubbleSize val="0"/>
              <c:extLst>
                <c:ext xmlns:c16="http://schemas.microsoft.com/office/drawing/2014/chart" uri="{C3380CC4-5D6E-409C-BE32-E72D297353CC}">
                  <c16:uniqueId val="{00000007-435D-44ED-B1DE-D734B4B30E23}"/>
                </c:ext>
              </c:extLst>
            </c:dLbl>
            <c:dLbl>
              <c:idx val="4"/>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1"/>
              <c:showSerName val="0"/>
              <c:showPercent val="0"/>
              <c:showBubbleSize val="0"/>
              <c:extLst>
                <c:ext xmlns:c16="http://schemas.microsoft.com/office/drawing/2014/chart" uri="{C3380CC4-5D6E-409C-BE32-E72D297353CC}">
                  <c16:uniqueId val="{00000009-435D-44ED-B1DE-D734B4B30E23}"/>
                </c:ext>
              </c:extLst>
            </c:dLbl>
            <c:dLbl>
              <c:idx val="5"/>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1"/>
              <c:showSerName val="0"/>
              <c:showPercent val="0"/>
              <c:showBubbleSize val="0"/>
              <c:extLst>
                <c:ext xmlns:c16="http://schemas.microsoft.com/office/drawing/2014/chart" uri="{C3380CC4-5D6E-409C-BE32-E72D297353CC}">
                  <c16:uniqueId val="{0000000B-435D-44ED-B1DE-D734B4B30E23}"/>
                </c:ext>
              </c:extLst>
            </c:dLbl>
            <c:dLbl>
              <c:idx val="6"/>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1"/>
              <c:showSerName val="0"/>
              <c:showPercent val="0"/>
              <c:showBubbleSize val="0"/>
              <c:extLst>
                <c:ext xmlns:c16="http://schemas.microsoft.com/office/drawing/2014/chart" uri="{C3380CC4-5D6E-409C-BE32-E72D297353CC}">
                  <c16:uniqueId val="{0000000D-435D-44ED-B1DE-D734B4B30E23}"/>
                </c:ext>
              </c:extLst>
            </c:dLbl>
            <c:dLbl>
              <c:idx val="7"/>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1"/>
              <c:showSerName val="0"/>
              <c:showPercent val="0"/>
              <c:showBubbleSize val="0"/>
              <c:extLst>
                <c:ext xmlns:c16="http://schemas.microsoft.com/office/drawing/2014/chart" uri="{C3380CC4-5D6E-409C-BE32-E72D297353CC}">
                  <c16:uniqueId val="{0000000F-435D-44ED-B1DE-D734B4B30E2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'Chart 2'!$A$4:$A$12</c:f>
              <c:strCache>
                <c:ptCount val="8"/>
                <c:pt idx="0">
                  <c:v>7.8</c:v>
                </c:pt>
                <c:pt idx="1">
                  <c:v>8</c:v>
                </c:pt>
                <c:pt idx="2">
                  <c:v>8.2</c:v>
                </c:pt>
                <c:pt idx="3">
                  <c:v>8.5</c:v>
                </c:pt>
                <c:pt idx="4">
                  <c:v>8.7</c:v>
                </c:pt>
                <c:pt idx="5">
                  <c:v>9</c:v>
                </c:pt>
                <c:pt idx="6">
                  <c:v>9.3</c:v>
                </c:pt>
                <c:pt idx="7">
                  <c:v>9.5</c:v>
                </c:pt>
              </c:strCache>
            </c:strRef>
          </c:cat>
          <c:val>
            <c:numRef>
              <c:f>'Chart 2'!$B$4:$B$12</c:f>
              <c:numCache>
                <c:formatCode>General</c:formatCode>
                <c:ptCount val="8"/>
                <c:pt idx="0">
                  <c:v>1</c:v>
                </c:pt>
                <c:pt idx="1">
                  <c:v>1</c:v>
                </c:pt>
                <c:pt idx="2">
                  <c:v>1</c:v>
                </c:pt>
                <c:pt idx="3">
                  <c:v>2</c:v>
                </c:pt>
                <c:pt idx="4">
                  <c:v>2</c:v>
                </c:pt>
                <c:pt idx="5">
                  <c:v>1</c:v>
                </c:pt>
                <c:pt idx="6">
                  <c:v>1</c:v>
                </c:pt>
                <c:pt idx="7">
                  <c:v>1</c:v>
                </c:pt>
              </c:numCache>
            </c:numRef>
          </c:val>
          <c:extLst>
            <c:ext xmlns:c16="http://schemas.microsoft.com/office/drawing/2014/chart" uri="{C3380CC4-5D6E-409C-BE32-E72D297353CC}">
              <c16:uniqueId val="{00000010-435D-44ED-B1DE-D734B4B30E23}"/>
            </c:ext>
          </c:extLst>
        </c:ser>
        <c:ser>
          <c:idx val="1"/>
          <c:order val="1"/>
          <c:tx>
            <c:strRef>
              <c:f>'Chart 2'!$C$3</c:f>
              <c:strCache>
                <c:ptCount val="1"/>
                <c:pt idx="0">
                  <c:v>Count of Rating (Rotten Tomatoes)</c:v>
                </c:pt>
              </c:strCache>
            </c:strRef>
          </c:tx>
          <c:dPt>
            <c:idx val="0"/>
            <c:bubble3D val="0"/>
            <c:spPr>
              <a:gradFill rotWithShape="1">
                <a:gsLst>
                  <a:gs pos="0">
                    <a:schemeClr val="accent1">
                      <a:tint val="98000"/>
                      <a:lumMod val="114000"/>
                    </a:schemeClr>
                  </a:gs>
                  <a:gs pos="100000">
                    <a:schemeClr val="accent1">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12-435D-44ED-B1DE-D734B4B30E23}"/>
              </c:ext>
            </c:extLst>
          </c:dPt>
          <c:dPt>
            <c:idx val="1"/>
            <c:bubble3D val="0"/>
            <c:spPr>
              <a:gradFill rotWithShape="1">
                <a:gsLst>
                  <a:gs pos="0">
                    <a:schemeClr val="accent2">
                      <a:tint val="98000"/>
                      <a:lumMod val="114000"/>
                    </a:schemeClr>
                  </a:gs>
                  <a:gs pos="100000">
                    <a:schemeClr val="accent2">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14-435D-44ED-B1DE-D734B4B30E23}"/>
              </c:ext>
            </c:extLst>
          </c:dPt>
          <c:dPt>
            <c:idx val="2"/>
            <c:bubble3D val="0"/>
            <c:spPr>
              <a:gradFill rotWithShape="1">
                <a:gsLst>
                  <a:gs pos="0">
                    <a:schemeClr val="accent3">
                      <a:tint val="98000"/>
                      <a:lumMod val="114000"/>
                    </a:schemeClr>
                  </a:gs>
                  <a:gs pos="100000">
                    <a:schemeClr val="accent3">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16-435D-44ED-B1DE-D734B4B30E23}"/>
              </c:ext>
            </c:extLst>
          </c:dPt>
          <c:dPt>
            <c:idx val="3"/>
            <c:bubble3D val="0"/>
            <c:spPr>
              <a:gradFill rotWithShape="1">
                <a:gsLst>
                  <a:gs pos="0">
                    <a:schemeClr val="accent4">
                      <a:tint val="98000"/>
                      <a:lumMod val="114000"/>
                    </a:schemeClr>
                  </a:gs>
                  <a:gs pos="100000">
                    <a:schemeClr val="accent4">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18-435D-44ED-B1DE-D734B4B30E23}"/>
              </c:ext>
            </c:extLst>
          </c:dPt>
          <c:dPt>
            <c:idx val="4"/>
            <c:bubble3D val="0"/>
            <c:spPr>
              <a:gradFill rotWithShape="1">
                <a:gsLst>
                  <a:gs pos="0">
                    <a:schemeClr val="accent5">
                      <a:tint val="98000"/>
                      <a:lumMod val="114000"/>
                    </a:schemeClr>
                  </a:gs>
                  <a:gs pos="100000">
                    <a:schemeClr val="accent5">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1A-435D-44ED-B1DE-D734B4B30E23}"/>
              </c:ext>
            </c:extLst>
          </c:dPt>
          <c:dPt>
            <c:idx val="5"/>
            <c:bubble3D val="0"/>
            <c:spPr>
              <a:gradFill rotWithShape="1">
                <a:gsLst>
                  <a:gs pos="0">
                    <a:schemeClr val="accent6">
                      <a:tint val="98000"/>
                      <a:lumMod val="114000"/>
                    </a:schemeClr>
                  </a:gs>
                  <a:gs pos="100000">
                    <a:schemeClr val="accent6">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1C-435D-44ED-B1DE-D734B4B30E23}"/>
              </c:ext>
            </c:extLst>
          </c:dPt>
          <c:dPt>
            <c:idx val="6"/>
            <c:bubble3D val="0"/>
            <c:spPr>
              <a:gradFill rotWithShape="1">
                <a:gsLst>
                  <a:gs pos="0">
                    <a:schemeClr val="accent1">
                      <a:lumMod val="60000"/>
                      <a:tint val="98000"/>
                      <a:lumMod val="114000"/>
                    </a:schemeClr>
                  </a:gs>
                  <a:gs pos="100000">
                    <a:schemeClr val="accent1">
                      <a:lumMod val="6000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1E-435D-44ED-B1DE-D734B4B30E23}"/>
              </c:ext>
            </c:extLst>
          </c:dPt>
          <c:dPt>
            <c:idx val="7"/>
            <c:bubble3D val="0"/>
            <c:spPr>
              <a:gradFill rotWithShape="1">
                <a:gsLst>
                  <a:gs pos="0">
                    <a:schemeClr val="accent2">
                      <a:lumMod val="60000"/>
                      <a:tint val="98000"/>
                      <a:lumMod val="114000"/>
                    </a:schemeClr>
                  </a:gs>
                  <a:gs pos="100000">
                    <a:schemeClr val="accent2">
                      <a:lumMod val="6000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20-435D-44ED-B1DE-D734B4B30E23}"/>
              </c:ext>
            </c:extLst>
          </c:dPt>
          <c:dLbls>
            <c:dLbl>
              <c:idx val="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1"/>
              <c:showSerName val="0"/>
              <c:showPercent val="0"/>
              <c:showBubbleSize val="0"/>
              <c:extLst>
                <c:ext xmlns:c16="http://schemas.microsoft.com/office/drawing/2014/chart" uri="{C3380CC4-5D6E-409C-BE32-E72D297353CC}">
                  <c16:uniqueId val="{00000012-435D-44ED-B1DE-D734B4B30E23}"/>
                </c:ext>
              </c:extLst>
            </c:dLbl>
            <c:dLbl>
              <c:idx val="1"/>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1"/>
              <c:showSerName val="0"/>
              <c:showPercent val="0"/>
              <c:showBubbleSize val="0"/>
              <c:extLst>
                <c:ext xmlns:c16="http://schemas.microsoft.com/office/drawing/2014/chart" uri="{C3380CC4-5D6E-409C-BE32-E72D297353CC}">
                  <c16:uniqueId val="{00000014-435D-44ED-B1DE-D734B4B30E23}"/>
                </c:ext>
              </c:extLst>
            </c:dLbl>
            <c:dLbl>
              <c:idx val="2"/>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1"/>
              <c:showSerName val="0"/>
              <c:showPercent val="0"/>
              <c:showBubbleSize val="0"/>
              <c:extLst>
                <c:ext xmlns:c16="http://schemas.microsoft.com/office/drawing/2014/chart" uri="{C3380CC4-5D6E-409C-BE32-E72D297353CC}">
                  <c16:uniqueId val="{00000016-435D-44ED-B1DE-D734B4B30E23}"/>
                </c:ext>
              </c:extLst>
            </c:dLbl>
            <c:dLbl>
              <c:idx val="3"/>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1"/>
              <c:showSerName val="0"/>
              <c:showPercent val="0"/>
              <c:showBubbleSize val="0"/>
              <c:extLst>
                <c:ext xmlns:c16="http://schemas.microsoft.com/office/drawing/2014/chart" uri="{C3380CC4-5D6E-409C-BE32-E72D297353CC}">
                  <c16:uniqueId val="{00000018-435D-44ED-B1DE-D734B4B30E23}"/>
                </c:ext>
              </c:extLst>
            </c:dLbl>
            <c:dLbl>
              <c:idx val="4"/>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1"/>
              <c:showSerName val="0"/>
              <c:showPercent val="0"/>
              <c:showBubbleSize val="0"/>
              <c:extLst>
                <c:ext xmlns:c16="http://schemas.microsoft.com/office/drawing/2014/chart" uri="{C3380CC4-5D6E-409C-BE32-E72D297353CC}">
                  <c16:uniqueId val="{0000001A-435D-44ED-B1DE-D734B4B30E23}"/>
                </c:ext>
              </c:extLst>
            </c:dLbl>
            <c:dLbl>
              <c:idx val="5"/>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1"/>
              <c:showSerName val="0"/>
              <c:showPercent val="0"/>
              <c:showBubbleSize val="0"/>
              <c:extLst>
                <c:ext xmlns:c16="http://schemas.microsoft.com/office/drawing/2014/chart" uri="{C3380CC4-5D6E-409C-BE32-E72D297353CC}">
                  <c16:uniqueId val="{0000001C-435D-44ED-B1DE-D734B4B30E23}"/>
                </c:ext>
              </c:extLst>
            </c:dLbl>
            <c:dLbl>
              <c:idx val="6"/>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1"/>
              <c:showSerName val="0"/>
              <c:showPercent val="0"/>
              <c:showBubbleSize val="0"/>
              <c:extLst>
                <c:ext xmlns:c16="http://schemas.microsoft.com/office/drawing/2014/chart" uri="{C3380CC4-5D6E-409C-BE32-E72D297353CC}">
                  <c16:uniqueId val="{0000001E-435D-44ED-B1DE-D734B4B30E23}"/>
                </c:ext>
              </c:extLst>
            </c:dLbl>
            <c:dLbl>
              <c:idx val="7"/>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1"/>
              <c:showSerName val="0"/>
              <c:showPercent val="0"/>
              <c:showBubbleSize val="0"/>
              <c:extLst>
                <c:ext xmlns:c16="http://schemas.microsoft.com/office/drawing/2014/chart" uri="{C3380CC4-5D6E-409C-BE32-E72D297353CC}">
                  <c16:uniqueId val="{00000020-435D-44ED-B1DE-D734B4B30E2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'Chart 2'!$A$4:$A$12</c:f>
              <c:strCache>
                <c:ptCount val="8"/>
                <c:pt idx="0">
                  <c:v>7.8</c:v>
                </c:pt>
                <c:pt idx="1">
                  <c:v>8</c:v>
                </c:pt>
                <c:pt idx="2">
                  <c:v>8.2</c:v>
                </c:pt>
                <c:pt idx="3">
                  <c:v>8.5</c:v>
                </c:pt>
                <c:pt idx="4">
                  <c:v>8.7</c:v>
                </c:pt>
                <c:pt idx="5">
                  <c:v>9</c:v>
                </c:pt>
                <c:pt idx="6">
                  <c:v>9.3</c:v>
                </c:pt>
                <c:pt idx="7">
                  <c:v>9.5</c:v>
                </c:pt>
              </c:strCache>
            </c:strRef>
          </c:cat>
          <c:val>
            <c:numRef>
              <c:f>'Chart 2'!$C$4:$C$12</c:f>
              <c:numCache>
                <c:formatCode>General</c:formatCode>
                <c:ptCount val="8"/>
                <c:pt idx="0">
                  <c:v>1</c:v>
                </c:pt>
                <c:pt idx="1">
                  <c:v>1</c:v>
                </c:pt>
                <c:pt idx="2">
                  <c:v>1</c:v>
                </c:pt>
                <c:pt idx="3">
                  <c:v>2</c:v>
                </c:pt>
                <c:pt idx="4">
                  <c:v>2</c:v>
                </c:pt>
                <c:pt idx="5">
                  <c:v>1</c:v>
                </c:pt>
                <c:pt idx="6">
                  <c:v>1</c:v>
                </c:pt>
                <c:pt idx="7">
                  <c:v>1</c:v>
                </c:pt>
              </c:numCache>
            </c:numRef>
          </c:val>
          <c:extLst>
            <c:ext xmlns:c16="http://schemas.microsoft.com/office/drawing/2014/chart" uri="{C3380CC4-5D6E-409C-BE32-E72D297353CC}">
              <c16:uniqueId val="{00000021-435D-44ED-B1DE-D734B4B30E23}"/>
            </c:ext>
          </c:extLst>
        </c:ser>
        <c:dLbls>
          <c:dLblPos val="outEnd"/>
          <c:showLegendKey val="0"/>
          <c:showVal val="1"/>
          <c:showCatName val="0"/>
          <c:showSerName val="0"/>
          <c:showPercent val="0"/>
          <c:showBubbleSize val="0"/>
          <c:showLeaderLines val="1"/>
        </c:dLbls>
      </c:pie3DChart>
      <c:spPr>
        <a:noFill/>
        <a:ln>
          <a:noFill/>
        </a:ln>
        <a:effectLst/>
      </c:spPr>
    </c:plotArea>
    <c:legend>
      <c:legendPos val="r"/>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7">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345">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8EED326-6F2A-4D5D-9948-313A854FDAA0}" type="datetimeFigureOut">
              <a:rPr lang="en-US" smtClean="0"/>
              <a:t>12/31/2025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3E9FB5A-C4A8-4E5F-AB4A-F91031C5A281}" type="slidenum">
              <a:rPr lang="en-US" smtClean="0"/>
              <a:t>‹#›</a:t>
            </a:fld>
            <a:endParaRPr lang="en-US" dirty="0"/>
          </a:p>
        </p:txBody>
      </p:sp>
    </p:spTree>
    <p:extLst>
      <p:ext uri="{BB962C8B-B14F-4D97-AF65-F5344CB8AC3E}">
        <p14:creationId xmlns:p14="http://schemas.microsoft.com/office/powerpoint/2010/main" val="1362826868"/>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2050472"/>
            <a:ext cx="8825658" cy="2283563"/>
          </a:xfrm>
        </p:spPr>
        <p:txBody>
          <a:bodyPr anchor="b"/>
          <a:lstStyle>
            <a:lvl1pPr algn="ctr">
              <a:defRPr sz="6600"/>
            </a:lvl1pPr>
          </a:lstStyle>
          <a:p>
            <a:r>
              <a:rPr lang="en-US" dirty="0"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extLst>
      <p:ext uri="{BB962C8B-B14F-4D97-AF65-F5344CB8AC3E}">
        <p14:creationId xmlns:p14="http://schemas.microsoft.com/office/powerpoint/2010/main" val="1863518945"/>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875201" y="2136045"/>
            <a:ext cx="8946541" cy="419548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13204173"/>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11767518"/>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Tree>
    <p:extLst>
      <p:ext uri="{BB962C8B-B14F-4D97-AF65-F5344CB8AC3E}">
        <p14:creationId xmlns:p14="http://schemas.microsoft.com/office/powerpoint/2010/main" val="3547278859"/>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Tree>
    <p:extLst>
      <p:ext uri="{BB962C8B-B14F-4D97-AF65-F5344CB8AC3E}">
        <p14:creationId xmlns:p14="http://schemas.microsoft.com/office/powerpoint/2010/main" val="3846597472"/>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Tree>
    <p:extLst>
      <p:ext uri="{BB962C8B-B14F-4D97-AF65-F5344CB8AC3E}">
        <p14:creationId xmlns:p14="http://schemas.microsoft.com/office/powerpoint/2010/main" val="2132527128"/>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36590371"/>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87415240"/>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6250484"/>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1">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12">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0" name="Picture 9"/>
          <p:cNvPicPr>
            <a:picLocks noChangeAspect="1"/>
          </p:cNvPicPr>
          <p:nvPr/>
        </p:nvPicPr>
        <p:blipFill rotWithShape="1">
          <a:blip r:embed="rId13">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892949275"/>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3" r:id="rId3"/>
    <p:sldLayoutId id="2147483686" r:id="rId4"/>
    <p:sldLayoutId id="2147483687" r:id="rId5"/>
    <p:sldLayoutId id="2147483689" r:id="rId6"/>
    <p:sldLayoutId id="2147483690" r:id="rId7"/>
    <p:sldLayoutId id="2147483692" r:id="rId8"/>
    <p:sldLayoutId id="2147483693" r:id="rId9"/>
  </p:sldLayoutIdLst>
  <p:transition spd="slow">
    <p:wipe/>
  </p:transition>
  <p:txStyles>
    <p:titleStyle>
      <a:lvl1pPr algn="l" defTabSz="457200" rtl="0" eaLnBrk="1" latinLnBrk="0" hangingPunct="1">
        <a:spcBef>
          <a:spcPct val="0"/>
        </a:spcBef>
        <a:buNone/>
        <a:defRPr sz="4200" b="0" i="0" kern="1200">
          <a:solidFill>
            <a:schemeClr val="tx2"/>
          </a:solidFill>
          <a:latin typeface="Arial Rounded MT Bold" panose="020F070403050403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Arial" panose="020B0604020202020204" pitchFamily="34" charset="0"/>
          <a:ea typeface="+mj-ea"/>
          <a:cs typeface="Arial" panose="020B0604020202020204" pitchFamily="34" charset="0"/>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Arial" panose="020B0604020202020204" pitchFamily="34" charset="0"/>
          <a:ea typeface="+mj-ea"/>
          <a:cs typeface="Arial" panose="020B0604020202020204" pitchFamily="34" charset="0"/>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Arial" panose="020B0604020202020204" pitchFamily="34" charset="0"/>
          <a:ea typeface="+mj-ea"/>
          <a:cs typeface="Arial" panose="020B0604020202020204" pitchFamily="34" charset="0"/>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Arial" panose="020B0604020202020204" pitchFamily="34" charset="0"/>
          <a:ea typeface="+mj-ea"/>
          <a:cs typeface="Arial" panose="020B0604020202020204" pitchFamily="34" charset="0"/>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Arial" panose="020B0604020202020204" pitchFamily="34" charset="0"/>
          <a:ea typeface="+mj-ea"/>
          <a:cs typeface="Arial" panose="020B0604020202020204" pitchFamily="34" charset="0"/>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3.xml"/><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3.xml"/><Relationship Id="rId4" Type="http://schemas.openxmlformats.org/officeDocument/2006/relationships/image" Target="../media/image13.jpeg"/></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3.xml"/><Relationship Id="rId4" Type="http://schemas.openxmlformats.org/officeDocument/2006/relationships/image" Target="../media/image16.jpeg"/></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3.xml"/><Relationship Id="rId4" Type="http://schemas.openxmlformats.org/officeDocument/2006/relationships/image" Target="../media/image19.jpeg"/></Relationships>
</file>

<file path=ppt/slides/_rels/slide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3.xml"/><Relationship Id="rId4" Type="http://schemas.openxmlformats.org/officeDocument/2006/relationships/image" Target="../media/image22.jpeg"/></Relationships>
</file>

<file path=ppt/slides/_rels/slide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17.jpeg"/><Relationship Id="rId1" Type="http://schemas.openxmlformats.org/officeDocument/2006/relationships/slideLayout" Target="../slideLayouts/slideLayout3.xml"/><Relationship Id="rId5" Type="http://schemas.openxmlformats.org/officeDocument/2006/relationships/image" Target="../media/image25.jpeg"/><Relationship Id="rId4" Type="http://schemas.openxmlformats.org/officeDocument/2006/relationships/image" Target="../media/image2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6388" y="858865"/>
            <a:ext cx="2537416" cy="2537416"/>
          </a:xfrm>
          <a:prstGeom prst="rect">
            <a:avLst/>
          </a:prstGeom>
        </p:spPr>
      </p:pic>
      <p:sp>
        <p:nvSpPr>
          <p:cNvPr id="2" name="Title 1"/>
          <p:cNvSpPr>
            <a:spLocks noGrp="1"/>
          </p:cNvSpPr>
          <p:nvPr>
            <p:ph type="ctrTitle"/>
          </p:nvPr>
        </p:nvSpPr>
        <p:spPr>
          <a:xfrm>
            <a:off x="1247319" y="2217602"/>
            <a:ext cx="8825658" cy="1165962"/>
          </a:xfrm>
        </p:spPr>
        <p:txBody>
          <a:bodyPr/>
          <a:lstStyle/>
          <a:p>
            <a:r>
              <a:rPr lang="en-US" dirty="0" smtClean="0"/>
              <a:t>CINESTOP</a:t>
            </a:r>
            <a:endParaRPr lang="en-US" dirty="0"/>
          </a:p>
        </p:txBody>
      </p:sp>
      <p:sp>
        <p:nvSpPr>
          <p:cNvPr id="3" name="Subtitle 2"/>
          <p:cNvSpPr>
            <a:spLocks noGrp="1"/>
          </p:cNvSpPr>
          <p:nvPr>
            <p:ph type="subTitle" idx="1"/>
          </p:nvPr>
        </p:nvSpPr>
        <p:spPr>
          <a:xfrm>
            <a:off x="2454217" y="3827053"/>
            <a:ext cx="6585118" cy="450402"/>
          </a:xfrm>
        </p:spPr>
        <p:txBody>
          <a:bodyPr>
            <a:normAutofit fontScale="77500" lnSpcReduction="20000"/>
          </a:bodyPr>
          <a:lstStyle/>
          <a:p>
            <a:r>
              <a:rPr lang="en-US" i="1" dirty="0"/>
              <a:t>"Bringing Stories to Life with Cinematic Excellence."</a:t>
            </a:r>
          </a:p>
        </p:txBody>
      </p:sp>
      <p:cxnSp>
        <p:nvCxnSpPr>
          <p:cNvPr id="5" name="Straight Connector 4"/>
          <p:cNvCxnSpPr/>
          <p:nvPr/>
        </p:nvCxnSpPr>
        <p:spPr>
          <a:xfrm flipV="1">
            <a:off x="3016215" y="3556099"/>
            <a:ext cx="5072506" cy="1"/>
          </a:xfrm>
          <a:prstGeom prst="line">
            <a:avLst/>
          </a:prstGeom>
        </p:spPr>
        <p:style>
          <a:lnRef idx="3">
            <a:schemeClr val="accent2"/>
          </a:lnRef>
          <a:fillRef idx="0">
            <a:schemeClr val="accent2"/>
          </a:fillRef>
          <a:effectRef idx="2">
            <a:schemeClr val="accent2"/>
          </a:effectRef>
          <a:fontRef idx="minor">
            <a:schemeClr val="tx1"/>
          </a:fontRef>
        </p:style>
      </p:cxnSp>
      <p:sp>
        <p:nvSpPr>
          <p:cNvPr id="7" name="Subtitle 2"/>
          <p:cNvSpPr txBox="1">
            <a:spLocks/>
          </p:cNvSpPr>
          <p:nvPr/>
        </p:nvSpPr>
        <p:spPr>
          <a:xfrm>
            <a:off x="8146471" y="5511672"/>
            <a:ext cx="3645284" cy="1120038"/>
          </a:xfrm>
          <a:prstGeom prst="rect">
            <a:avLst/>
          </a:prstGeom>
        </p:spPr>
        <p:txBody>
          <a:bodyPr vert="horz" lIns="91440" tIns="45720" rIns="91440" bIns="45720" rtlCol="0" anchor="t">
            <a:normAutofit fontScale="85000" lnSpcReduction="10000"/>
          </a:bodyPr>
          <a:lstStyle>
            <a:lvl1pPr marL="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2000" b="0" i="0" kern="1200" cap="all">
                <a:solidFill>
                  <a:schemeClr val="bg2">
                    <a:lumMod val="40000"/>
                    <a:lumOff val="60000"/>
                  </a:schemeClr>
                </a:solidFill>
                <a:latin typeface="Arial Rounded MT Bold" panose="020F0704030504030204" pitchFamily="34" charset="0"/>
                <a:ea typeface="+mj-ea"/>
                <a:cs typeface="+mj-cs"/>
              </a:defRPr>
            </a:lvl1pPr>
            <a:lvl2pPr marL="457200" indent="0" algn="ctr" defTabSz="457200" rtl="0" eaLnBrk="1" latinLnBrk="0" hangingPunct="1">
              <a:spcBef>
                <a:spcPts val="1000"/>
              </a:spcBef>
              <a:spcAft>
                <a:spcPts val="0"/>
              </a:spcAft>
              <a:buClr>
                <a:schemeClr val="bg2">
                  <a:lumMod val="40000"/>
                  <a:lumOff val="60000"/>
                </a:schemeClr>
              </a:buClr>
              <a:buSzPct val="80000"/>
              <a:buFont typeface="Wingdings 3" charset="2"/>
              <a:buNone/>
              <a:defRPr sz="1800" b="0" i="0" kern="1200">
                <a:solidFill>
                  <a:schemeClr val="tx1">
                    <a:tint val="75000"/>
                  </a:schemeClr>
                </a:solidFill>
                <a:latin typeface="Arial Rounded MT Bold" panose="020F0704030504030204" pitchFamily="34" charset="0"/>
                <a:ea typeface="+mj-ea"/>
                <a:cs typeface="+mj-cs"/>
              </a:defRPr>
            </a:lvl2pPr>
            <a:lvl3pPr marL="914400" indent="0" algn="ctr" defTabSz="457200" rtl="0" eaLnBrk="1" latinLnBrk="0" hangingPunct="1">
              <a:spcBef>
                <a:spcPts val="1000"/>
              </a:spcBef>
              <a:spcAft>
                <a:spcPts val="0"/>
              </a:spcAft>
              <a:buClr>
                <a:schemeClr val="bg2">
                  <a:lumMod val="40000"/>
                  <a:lumOff val="60000"/>
                </a:schemeClr>
              </a:buClr>
              <a:buSzPct val="80000"/>
              <a:buFont typeface="Wingdings 3" charset="2"/>
              <a:buNone/>
              <a:defRPr sz="1600" b="0" i="0" kern="1200">
                <a:solidFill>
                  <a:schemeClr val="tx1">
                    <a:tint val="75000"/>
                  </a:schemeClr>
                </a:solidFill>
                <a:latin typeface="Arial Rounded MT Bold" panose="020F0704030504030204" pitchFamily="34" charset="0"/>
                <a:ea typeface="+mj-ea"/>
                <a:cs typeface="+mj-cs"/>
              </a:defRPr>
            </a:lvl3pPr>
            <a:lvl4pPr marL="1371600" indent="0" algn="ctr" defTabSz="457200" rtl="0" eaLnBrk="1" latinLnBrk="0" hangingPunct="1">
              <a:spcBef>
                <a:spcPts val="1000"/>
              </a:spcBef>
              <a:spcAft>
                <a:spcPts val="0"/>
              </a:spcAft>
              <a:buClr>
                <a:schemeClr val="bg2">
                  <a:lumMod val="40000"/>
                  <a:lumOff val="60000"/>
                </a:schemeClr>
              </a:buClr>
              <a:buSzPct val="80000"/>
              <a:buFont typeface="Wingdings 3" charset="2"/>
              <a:buNone/>
              <a:defRPr sz="1400" b="0" i="0" kern="1200">
                <a:solidFill>
                  <a:schemeClr val="tx1">
                    <a:tint val="75000"/>
                  </a:schemeClr>
                </a:solidFill>
                <a:latin typeface="Arial Rounded MT Bold" panose="020F0704030504030204" pitchFamily="34" charset="0"/>
                <a:ea typeface="+mj-ea"/>
                <a:cs typeface="+mj-cs"/>
              </a:defRPr>
            </a:lvl4pPr>
            <a:lvl5pPr marL="1828800" indent="0" algn="ctr" defTabSz="457200" rtl="0" eaLnBrk="1" latinLnBrk="0" hangingPunct="1">
              <a:spcBef>
                <a:spcPts val="1000"/>
              </a:spcBef>
              <a:spcAft>
                <a:spcPts val="0"/>
              </a:spcAft>
              <a:buClr>
                <a:schemeClr val="bg2">
                  <a:lumMod val="40000"/>
                  <a:lumOff val="60000"/>
                </a:schemeClr>
              </a:buClr>
              <a:buSzPct val="80000"/>
              <a:buFont typeface="Wingdings 3" charset="2"/>
              <a:buNone/>
              <a:defRPr sz="1400" b="0" i="0" kern="1200">
                <a:solidFill>
                  <a:schemeClr val="tx1">
                    <a:tint val="75000"/>
                  </a:schemeClr>
                </a:solidFill>
                <a:latin typeface="Arial Rounded MT Bold" panose="020F0704030504030204" pitchFamily="34" charset="0"/>
                <a:ea typeface="+mj-ea"/>
                <a:cs typeface="+mj-cs"/>
              </a:defRPr>
            </a:lvl5pPr>
            <a:lvl6pPr marL="2286000" indent="0" algn="ctr" defTabSz="457200" rtl="0" eaLnBrk="1" latinLnBrk="0" hangingPunct="1">
              <a:spcBef>
                <a:spcPts val="1000"/>
              </a:spcBef>
              <a:spcAft>
                <a:spcPts val="0"/>
              </a:spcAft>
              <a:buClr>
                <a:schemeClr val="bg2">
                  <a:lumMod val="40000"/>
                  <a:lumOff val="60000"/>
                </a:schemeClr>
              </a:buClr>
              <a:buSzPct val="80000"/>
              <a:buFont typeface="Wingdings 3" charset="2"/>
              <a:buNone/>
              <a:defRPr sz="1400" b="0" i="0" kern="1200">
                <a:solidFill>
                  <a:schemeClr val="tx1">
                    <a:tint val="75000"/>
                  </a:schemeClr>
                </a:solidFill>
                <a:latin typeface="+mj-lt"/>
                <a:ea typeface="+mj-ea"/>
                <a:cs typeface="+mj-cs"/>
              </a:defRPr>
            </a:lvl6pPr>
            <a:lvl7pPr marL="2743200" indent="0" algn="ctr" defTabSz="457200" rtl="0" eaLnBrk="1" latinLnBrk="0" hangingPunct="1">
              <a:spcBef>
                <a:spcPts val="1000"/>
              </a:spcBef>
              <a:spcAft>
                <a:spcPts val="0"/>
              </a:spcAft>
              <a:buClr>
                <a:schemeClr val="bg2">
                  <a:lumMod val="40000"/>
                  <a:lumOff val="60000"/>
                </a:schemeClr>
              </a:buClr>
              <a:buSzPct val="80000"/>
              <a:buFont typeface="Wingdings 3" charset="2"/>
              <a:buNone/>
              <a:defRPr sz="1400" b="0" i="0" kern="1200">
                <a:solidFill>
                  <a:schemeClr val="tx1">
                    <a:tint val="75000"/>
                  </a:schemeClr>
                </a:solidFill>
                <a:latin typeface="+mj-lt"/>
                <a:ea typeface="+mj-ea"/>
                <a:cs typeface="+mj-cs"/>
              </a:defRPr>
            </a:lvl7pPr>
            <a:lvl8pPr marL="3200400" indent="0" algn="ctr" defTabSz="457200" rtl="0" eaLnBrk="1" latinLnBrk="0" hangingPunct="1">
              <a:spcBef>
                <a:spcPts val="1000"/>
              </a:spcBef>
              <a:spcAft>
                <a:spcPts val="0"/>
              </a:spcAft>
              <a:buClr>
                <a:schemeClr val="bg2">
                  <a:lumMod val="40000"/>
                  <a:lumOff val="60000"/>
                </a:schemeClr>
              </a:buClr>
              <a:buSzPct val="80000"/>
              <a:buFont typeface="Wingdings 3" charset="2"/>
              <a:buNone/>
              <a:defRPr sz="1400" b="0" i="0" kern="1200">
                <a:solidFill>
                  <a:schemeClr val="tx1">
                    <a:tint val="75000"/>
                  </a:schemeClr>
                </a:solidFill>
                <a:latin typeface="+mj-lt"/>
                <a:ea typeface="+mj-ea"/>
                <a:cs typeface="+mj-cs"/>
              </a:defRPr>
            </a:lvl8pPr>
            <a:lvl9pPr marL="3657600" indent="0" algn="ctr" defTabSz="457200" rtl="0" eaLnBrk="1" latinLnBrk="0" hangingPunct="1">
              <a:spcBef>
                <a:spcPts val="1000"/>
              </a:spcBef>
              <a:spcAft>
                <a:spcPts val="0"/>
              </a:spcAft>
              <a:buClr>
                <a:schemeClr val="bg2">
                  <a:lumMod val="40000"/>
                  <a:lumOff val="60000"/>
                </a:schemeClr>
              </a:buClr>
              <a:buSzPct val="80000"/>
              <a:buFont typeface="Wingdings 3" charset="2"/>
              <a:buNone/>
              <a:defRPr sz="1400" b="0" i="0" kern="1200">
                <a:solidFill>
                  <a:schemeClr val="tx1">
                    <a:tint val="75000"/>
                  </a:schemeClr>
                </a:solidFill>
                <a:latin typeface="+mj-lt"/>
                <a:ea typeface="+mj-ea"/>
                <a:cs typeface="+mj-cs"/>
              </a:defRPr>
            </a:lvl9pPr>
          </a:lstStyle>
          <a:p>
            <a:r>
              <a:rPr lang="en-US" i="1" dirty="0" smtClean="0"/>
              <a:t>PRESENTED BY:</a:t>
            </a:r>
          </a:p>
          <a:p>
            <a:pPr lvl="1" algn="l"/>
            <a:r>
              <a:rPr lang="en-US" i="1" dirty="0" smtClean="0"/>
              <a:t>TAHA (2512363)</a:t>
            </a:r>
          </a:p>
          <a:p>
            <a:pPr lvl="1" algn="l"/>
            <a:r>
              <a:rPr lang="en-US" i="1" dirty="0" smtClean="0"/>
              <a:t>MUHAMMAD YOUSUF (2512374)</a:t>
            </a:r>
            <a:endParaRPr lang="en-US" i="1" dirty="0"/>
          </a:p>
        </p:txBody>
      </p:sp>
    </p:spTree>
    <p:extLst>
      <p:ext uri="{BB962C8B-B14F-4D97-AF65-F5344CB8AC3E}">
        <p14:creationId xmlns:p14="http://schemas.microsoft.com/office/powerpoint/2010/main" val="233552500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923500"/>
          </a:xfrm>
        </p:spPr>
        <p:txBody>
          <a:bodyPr/>
          <a:lstStyle/>
          <a:p>
            <a:r>
              <a:rPr lang="en-US" dirty="0" smtClean="0"/>
              <a:t>Introduction - CINESTOP</a:t>
            </a:r>
            <a:endParaRPr lang="en-US" dirty="0"/>
          </a:p>
        </p:txBody>
      </p:sp>
      <p:sp>
        <p:nvSpPr>
          <p:cNvPr id="3" name="Content Placeholder 2"/>
          <p:cNvSpPr>
            <a:spLocks noGrp="1"/>
          </p:cNvSpPr>
          <p:nvPr>
            <p:ph idx="1"/>
          </p:nvPr>
        </p:nvSpPr>
        <p:spPr>
          <a:xfrm>
            <a:off x="770803" y="1376218"/>
            <a:ext cx="10626869" cy="4655127"/>
          </a:xfrm>
        </p:spPr>
        <p:txBody>
          <a:bodyPr>
            <a:normAutofit/>
          </a:bodyPr>
          <a:lstStyle/>
          <a:p>
            <a:pPr marL="0" indent="0">
              <a:buNone/>
            </a:pPr>
            <a:r>
              <a:rPr lang="en-US" b="1" dirty="0"/>
              <a:t>CINESTOP</a:t>
            </a:r>
            <a:r>
              <a:rPr lang="en-US" dirty="0"/>
              <a:t> is a modern, user-friendly digital platform that enables users to explore and discover movies and TV shows across a wide range of genres. The website presents well-structured content, including detailed descriptions, genre classifications, and ratings, helping users make informed viewing decisions</a:t>
            </a:r>
            <a:r>
              <a:rPr lang="en-US" dirty="0" smtClean="0"/>
              <a:t>.</a:t>
            </a:r>
          </a:p>
          <a:p>
            <a:pPr marL="0" indent="0">
              <a:buNone/>
            </a:pPr>
            <a:endParaRPr lang="en-US" dirty="0"/>
          </a:p>
          <a:p>
            <a:pPr marL="0" indent="0">
              <a:buNone/>
            </a:pPr>
            <a:r>
              <a:rPr lang="en-US" b="1" dirty="0" smtClean="0"/>
              <a:t>Key Points:</a:t>
            </a:r>
          </a:p>
          <a:p>
            <a:pPr>
              <a:buFont typeface="Wingdings" panose="05000000000000000000" pitchFamily="2" charset="2"/>
              <a:buChar char="§"/>
            </a:pPr>
            <a:r>
              <a:rPr lang="en-US" dirty="0"/>
              <a:t>Modern and user-friendly movie &amp; TV show platform</a:t>
            </a:r>
          </a:p>
          <a:p>
            <a:pPr>
              <a:buFont typeface="Wingdings" panose="05000000000000000000" pitchFamily="2" charset="2"/>
              <a:buChar char="§"/>
            </a:pPr>
            <a:r>
              <a:rPr lang="en-US" dirty="0"/>
              <a:t>Designed as a one-stop entertainment </a:t>
            </a:r>
            <a:r>
              <a:rPr lang="en-US" dirty="0" smtClean="0"/>
              <a:t>destination</a:t>
            </a:r>
          </a:p>
          <a:p>
            <a:pPr>
              <a:buFont typeface="Wingdings" panose="05000000000000000000" pitchFamily="2" charset="2"/>
              <a:buChar char="§"/>
            </a:pPr>
            <a:r>
              <a:rPr lang="en-US" dirty="0"/>
              <a:t>Simple, clear, and cinematic browsing </a:t>
            </a:r>
            <a:r>
              <a:rPr lang="en-US" dirty="0" smtClean="0"/>
              <a:t>experience</a:t>
            </a:r>
          </a:p>
          <a:p>
            <a:pPr>
              <a:buFont typeface="Wingdings" panose="05000000000000000000" pitchFamily="2" charset="2"/>
              <a:buChar char="§"/>
            </a:pPr>
            <a:r>
              <a:rPr lang="en-US" dirty="0"/>
              <a:t>Detailed descriptions and genre-based classification</a:t>
            </a:r>
          </a:p>
        </p:txBody>
      </p:sp>
      <p:pic>
        <p:nvPicPr>
          <p:cNvPr id="1028" name="Picture 4" descr="Story pin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0422" y="2679843"/>
            <a:ext cx="3176010" cy="317601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9784642"/>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923500"/>
          </a:xfrm>
        </p:spPr>
        <p:txBody>
          <a:bodyPr/>
          <a:lstStyle/>
          <a:p>
            <a:r>
              <a:rPr lang="en-US" dirty="0" smtClean="0"/>
              <a:t>Genres</a:t>
            </a:r>
            <a:endParaRPr lang="en-US" dirty="0"/>
          </a:p>
        </p:txBody>
      </p:sp>
      <p:sp>
        <p:nvSpPr>
          <p:cNvPr id="3" name="Content Placeholder 2"/>
          <p:cNvSpPr>
            <a:spLocks noGrp="1"/>
          </p:cNvSpPr>
          <p:nvPr>
            <p:ph idx="1"/>
          </p:nvPr>
        </p:nvSpPr>
        <p:spPr>
          <a:xfrm>
            <a:off x="770803" y="1376218"/>
            <a:ext cx="10626869" cy="5144655"/>
          </a:xfrm>
        </p:spPr>
        <p:txBody>
          <a:bodyPr>
            <a:normAutofit/>
          </a:bodyPr>
          <a:lstStyle/>
          <a:p>
            <a:pPr marL="0" indent="0">
              <a:buNone/>
            </a:pPr>
            <a:r>
              <a:rPr lang="en-US" b="1" dirty="0"/>
              <a:t>Genres</a:t>
            </a:r>
            <a:r>
              <a:rPr lang="en-US" dirty="0"/>
              <a:t> play a vital role in organizing movies and TV shows by their storytelling style and themes. CINESTOP categorizes content into clearly defined genres, allowing users to easily explore entertainment based on their interests, mood, and preferences. </a:t>
            </a:r>
            <a:endParaRPr lang="en-US" dirty="0" smtClean="0"/>
          </a:p>
          <a:p>
            <a:pPr marL="0" indent="0">
              <a:buNone/>
            </a:pPr>
            <a:endParaRPr lang="en-US" dirty="0"/>
          </a:p>
          <a:p>
            <a:pPr marL="0" indent="0">
              <a:buNone/>
            </a:pPr>
            <a:r>
              <a:rPr lang="en-US" b="1" dirty="0" smtClean="0"/>
              <a:t>Key Points:</a:t>
            </a:r>
          </a:p>
          <a:p>
            <a:pPr>
              <a:buFont typeface="Wingdings" panose="05000000000000000000" pitchFamily="2" charset="2"/>
              <a:buChar char="§"/>
            </a:pPr>
            <a:r>
              <a:rPr lang="en-US" sz="1800" dirty="0" smtClean="0"/>
              <a:t>Action</a:t>
            </a:r>
          </a:p>
          <a:p>
            <a:pPr>
              <a:buFont typeface="Wingdings" panose="05000000000000000000" pitchFamily="2" charset="2"/>
              <a:buChar char="§"/>
            </a:pPr>
            <a:r>
              <a:rPr lang="en-US" sz="1800" dirty="0" smtClean="0"/>
              <a:t>Comedy</a:t>
            </a:r>
          </a:p>
          <a:p>
            <a:pPr>
              <a:buFont typeface="Wingdings" panose="05000000000000000000" pitchFamily="2" charset="2"/>
              <a:buChar char="§"/>
            </a:pPr>
            <a:r>
              <a:rPr lang="en-US" sz="1800" dirty="0" smtClean="0"/>
              <a:t>Adventure</a:t>
            </a:r>
          </a:p>
          <a:p>
            <a:pPr>
              <a:buFont typeface="Wingdings" panose="05000000000000000000" pitchFamily="2" charset="2"/>
              <a:buChar char="§"/>
            </a:pPr>
            <a:r>
              <a:rPr lang="en-US" sz="1800" dirty="0" smtClean="0"/>
              <a:t>Horror</a:t>
            </a:r>
          </a:p>
          <a:p>
            <a:pPr>
              <a:buFont typeface="Wingdings" panose="05000000000000000000" pitchFamily="2" charset="2"/>
              <a:buChar char="§"/>
            </a:pPr>
            <a:r>
              <a:rPr lang="en-US" sz="1800" dirty="0" smtClean="0"/>
              <a:t>Thriller</a:t>
            </a:r>
          </a:p>
          <a:p>
            <a:pPr>
              <a:buFont typeface="Wingdings" panose="05000000000000000000" pitchFamily="2" charset="2"/>
              <a:buChar char="§"/>
            </a:pPr>
            <a:r>
              <a:rPr lang="en-US" sz="1800" dirty="0" smtClean="0"/>
              <a:t>Drama</a:t>
            </a:r>
          </a:p>
          <a:p>
            <a:pPr>
              <a:buFont typeface="Wingdings" panose="05000000000000000000" pitchFamily="2" charset="2"/>
              <a:buChar char="§"/>
            </a:pPr>
            <a:r>
              <a:rPr lang="en-US" sz="1800" dirty="0" smtClean="0"/>
              <a:t>Science Fiction</a:t>
            </a:r>
          </a:p>
          <a:p>
            <a:pPr>
              <a:buFont typeface="Wingdings" panose="05000000000000000000" pitchFamily="2" charset="2"/>
              <a:buChar char="§"/>
            </a:pPr>
            <a:r>
              <a:rPr lang="en-US" sz="1800" dirty="0" smtClean="0"/>
              <a:t>Animation</a:t>
            </a:r>
          </a:p>
        </p:txBody>
      </p:sp>
      <p:pic>
        <p:nvPicPr>
          <p:cNvPr id="3075" name="Picture 3" descr="This may contain: the word action written in different languages on a black background with red and blue lette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48472" y="2937027"/>
            <a:ext cx="5143024" cy="321439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1060235"/>
      </p:ext>
    </p:extLst>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5378" y="688409"/>
            <a:ext cx="9404723" cy="1003549"/>
          </a:xfrm>
        </p:spPr>
        <p:txBody>
          <a:bodyPr/>
          <a:lstStyle/>
          <a:p>
            <a:r>
              <a:rPr lang="en-US" dirty="0" smtClean="0"/>
              <a:t>Genre - Action</a:t>
            </a:r>
            <a:endParaRPr lang="en-US" dirty="0"/>
          </a:p>
        </p:txBody>
      </p:sp>
      <p:sp>
        <p:nvSpPr>
          <p:cNvPr id="3" name="Text Placeholder 2"/>
          <p:cNvSpPr>
            <a:spLocks noGrp="1"/>
          </p:cNvSpPr>
          <p:nvPr>
            <p:ph type="body" idx="1"/>
          </p:nvPr>
        </p:nvSpPr>
        <p:spPr>
          <a:xfrm>
            <a:off x="646111" y="1836315"/>
            <a:ext cx="4396338" cy="576262"/>
          </a:xfrm>
        </p:spPr>
        <p:txBody>
          <a:bodyPr/>
          <a:lstStyle/>
          <a:p>
            <a:r>
              <a:rPr lang="en-US" b="1" dirty="0" smtClean="0"/>
              <a:t>Action Genres</a:t>
            </a:r>
            <a:endParaRPr lang="en-US" b="1" dirty="0"/>
          </a:p>
        </p:txBody>
      </p:sp>
      <p:sp>
        <p:nvSpPr>
          <p:cNvPr id="4" name="Content Placeholder 3"/>
          <p:cNvSpPr>
            <a:spLocks noGrp="1"/>
          </p:cNvSpPr>
          <p:nvPr>
            <p:ph sz="half" idx="2"/>
          </p:nvPr>
        </p:nvSpPr>
        <p:spPr>
          <a:xfrm>
            <a:off x="646111" y="2650066"/>
            <a:ext cx="4396339" cy="2692400"/>
          </a:xfrm>
        </p:spPr>
        <p:txBody>
          <a:bodyPr/>
          <a:lstStyle/>
          <a:p>
            <a:pPr>
              <a:buFont typeface="Wingdings" panose="05000000000000000000" pitchFamily="2" charset="2"/>
              <a:buChar char="§"/>
            </a:pPr>
            <a:r>
              <a:rPr lang="en-US" dirty="0"/>
              <a:t>Fast-paced and high-energy </a:t>
            </a:r>
            <a:r>
              <a:rPr lang="en-US" dirty="0" smtClean="0"/>
              <a:t>storytelling</a:t>
            </a:r>
          </a:p>
          <a:p>
            <a:pPr>
              <a:buFont typeface="Wingdings" panose="05000000000000000000" pitchFamily="2" charset="2"/>
              <a:buChar char="§"/>
            </a:pPr>
            <a:r>
              <a:rPr lang="en-US" dirty="0" smtClean="0"/>
              <a:t>Focuses </a:t>
            </a:r>
            <a:r>
              <a:rPr lang="en-US" dirty="0"/>
              <a:t>on physical feats, stunts, and intense </a:t>
            </a:r>
            <a:r>
              <a:rPr lang="en-US" dirty="0" smtClean="0"/>
              <a:t>sequences</a:t>
            </a:r>
          </a:p>
          <a:p>
            <a:pPr>
              <a:buFont typeface="Wingdings" panose="05000000000000000000" pitchFamily="2" charset="2"/>
              <a:buChar char="§"/>
            </a:pPr>
            <a:r>
              <a:rPr lang="en-US" dirty="0" smtClean="0"/>
              <a:t>Common </a:t>
            </a:r>
            <a:r>
              <a:rPr lang="en-US" dirty="0"/>
              <a:t>elements: fights, chases, </a:t>
            </a:r>
            <a:r>
              <a:rPr lang="en-US" dirty="0" smtClean="0"/>
              <a:t>explosions</a:t>
            </a:r>
          </a:p>
          <a:p>
            <a:pPr>
              <a:buFont typeface="Wingdings" panose="05000000000000000000" pitchFamily="2" charset="2"/>
              <a:buChar char="§"/>
            </a:pPr>
            <a:r>
              <a:rPr lang="en-US" dirty="0" smtClean="0"/>
              <a:t>Appeals </a:t>
            </a:r>
            <a:r>
              <a:rPr lang="en-US" dirty="0"/>
              <a:t>to thrill-seeking audiences</a:t>
            </a:r>
          </a:p>
        </p:txBody>
      </p:sp>
      <p:sp>
        <p:nvSpPr>
          <p:cNvPr id="5" name="Text Placeholder 4"/>
          <p:cNvSpPr>
            <a:spLocks noGrp="1"/>
          </p:cNvSpPr>
          <p:nvPr>
            <p:ph type="body" sz="quarter" idx="3"/>
          </p:nvPr>
        </p:nvSpPr>
        <p:spPr>
          <a:xfrm>
            <a:off x="5527495" y="1836315"/>
            <a:ext cx="4396339" cy="576262"/>
          </a:xfrm>
        </p:spPr>
        <p:txBody>
          <a:bodyPr/>
          <a:lstStyle/>
          <a:p>
            <a:r>
              <a:rPr lang="en-US" b="1" dirty="0" smtClean="0"/>
              <a:t>Example</a:t>
            </a:r>
            <a:endParaRPr lang="en-US" b="1" dirty="0"/>
          </a:p>
        </p:txBody>
      </p:sp>
      <p:sp>
        <p:nvSpPr>
          <p:cNvPr id="6" name="Content Placeholder 5"/>
          <p:cNvSpPr>
            <a:spLocks noGrp="1"/>
          </p:cNvSpPr>
          <p:nvPr>
            <p:ph sz="quarter" idx="4"/>
          </p:nvPr>
        </p:nvSpPr>
        <p:spPr>
          <a:xfrm>
            <a:off x="5517974" y="5063068"/>
            <a:ext cx="1780462" cy="380998"/>
          </a:xfrm>
        </p:spPr>
        <p:txBody>
          <a:bodyPr/>
          <a:lstStyle/>
          <a:p>
            <a:pPr marL="0" indent="0">
              <a:buNone/>
            </a:pPr>
            <a:r>
              <a:rPr lang="en-US" sz="1600" dirty="0" smtClean="0"/>
              <a:t>Fast and Furious</a:t>
            </a:r>
          </a:p>
          <a:p>
            <a:pPr marL="0" indent="0">
              <a:buNone/>
            </a:pPr>
            <a:endParaRPr lang="en-US" dirty="0"/>
          </a:p>
        </p:txBody>
      </p:sp>
      <p:pic>
        <p:nvPicPr>
          <p:cNvPr id="4099" name="Picture 3" descr="Image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91014" y="2650066"/>
            <a:ext cx="1807422" cy="225927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4101" name="Picture 5" descr="Imag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25664" y="2650066"/>
            <a:ext cx="1808198" cy="22608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4103" name="Picture 7" descr="Imag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61090" y="2650066"/>
            <a:ext cx="1590992" cy="22608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11" name="Content Placeholder 5"/>
          <p:cNvSpPr txBox="1">
            <a:spLocks/>
          </p:cNvSpPr>
          <p:nvPr/>
        </p:nvSpPr>
        <p:spPr>
          <a:xfrm>
            <a:off x="7739532" y="5063068"/>
            <a:ext cx="1780462" cy="38099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Arial" panose="020B0604020202020204" pitchFamily="34" charset="0"/>
                <a:ea typeface="+mj-ea"/>
                <a:cs typeface="Arial" panose="020B0604020202020204" pitchFamily="34" charset="0"/>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Arial" panose="020B0604020202020204" pitchFamily="34" charset="0"/>
                <a:ea typeface="+mj-ea"/>
                <a:cs typeface="Arial" panose="020B0604020202020204" pitchFamily="34" charset="0"/>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Arial" panose="020B0604020202020204" pitchFamily="34" charset="0"/>
                <a:ea typeface="+mj-ea"/>
                <a:cs typeface="Arial" panose="020B0604020202020204" pitchFamily="34" charset="0"/>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Arial" panose="020B0604020202020204" pitchFamily="34" charset="0"/>
                <a:ea typeface="+mj-ea"/>
                <a:cs typeface="Arial" panose="020B0604020202020204" pitchFamily="34" charset="0"/>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Arial" panose="020B0604020202020204" pitchFamily="34" charset="0"/>
                <a:ea typeface="+mj-ea"/>
                <a:cs typeface="Arial" panose="020B0604020202020204" pitchFamily="34" charset="0"/>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9pPr>
          </a:lstStyle>
          <a:p>
            <a:pPr marL="0" indent="0" algn="ctr">
              <a:buFont typeface="Wingdings 3" charset="2"/>
              <a:buNone/>
            </a:pPr>
            <a:r>
              <a:rPr lang="en-US" dirty="0" err="1" smtClean="0"/>
              <a:t>Jawan</a:t>
            </a:r>
            <a:endParaRPr lang="en-US" dirty="0"/>
          </a:p>
        </p:txBody>
      </p:sp>
      <p:sp>
        <p:nvSpPr>
          <p:cNvPr id="12" name="Content Placeholder 5"/>
          <p:cNvSpPr txBox="1">
            <a:spLocks/>
          </p:cNvSpPr>
          <p:nvPr/>
        </p:nvSpPr>
        <p:spPr>
          <a:xfrm>
            <a:off x="9923834" y="5063068"/>
            <a:ext cx="1780462" cy="38099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Arial" panose="020B0604020202020204" pitchFamily="34" charset="0"/>
                <a:ea typeface="+mj-ea"/>
                <a:cs typeface="Arial" panose="020B0604020202020204" pitchFamily="34" charset="0"/>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Arial" panose="020B0604020202020204" pitchFamily="34" charset="0"/>
                <a:ea typeface="+mj-ea"/>
                <a:cs typeface="Arial" panose="020B0604020202020204" pitchFamily="34" charset="0"/>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Arial" panose="020B0604020202020204" pitchFamily="34" charset="0"/>
                <a:ea typeface="+mj-ea"/>
                <a:cs typeface="Arial" panose="020B0604020202020204" pitchFamily="34" charset="0"/>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Arial" panose="020B0604020202020204" pitchFamily="34" charset="0"/>
                <a:ea typeface="+mj-ea"/>
                <a:cs typeface="Arial" panose="020B0604020202020204" pitchFamily="34" charset="0"/>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Arial" panose="020B0604020202020204" pitchFamily="34" charset="0"/>
                <a:ea typeface="+mj-ea"/>
                <a:cs typeface="Arial" panose="020B0604020202020204" pitchFamily="34" charset="0"/>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9pPr>
          </a:lstStyle>
          <a:p>
            <a:pPr marL="0" indent="0" algn="ctr">
              <a:buFont typeface="Wingdings 3" charset="2"/>
              <a:buNone/>
            </a:pPr>
            <a:r>
              <a:rPr lang="en-US" dirty="0" smtClean="0"/>
              <a:t>Avengers</a:t>
            </a:r>
            <a:endParaRPr lang="en-US" dirty="0"/>
          </a:p>
        </p:txBody>
      </p:sp>
    </p:spTree>
    <p:extLst>
      <p:ext uri="{BB962C8B-B14F-4D97-AF65-F5344CB8AC3E}">
        <p14:creationId xmlns:p14="http://schemas.microsoft.com/office/powerpoint/2010/main" val="3990012572"/>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5378" y="688409"/>
            <a:ext cx="9404723" cy="1003549"/>
          </a:xfrm>
        </p:spPr>
        <p:txBody>
          <a:bodyPr/>
          <a:lstStyle/>
          <a:p>
            <a:r>
              <a:rPr lang="en-US" dirty="0" smtClean="0"/>
              <a:t>Genre - Adventure</a:t>
            </a:r>
            <a:endParaRPr lang="en-US" dirty="0"/>
          </a:p>
        </p:txBody>
      </p:sp>
      <p:sp>
        <p:nvSpPr>
          <p:cNvPr id="3" name="Text Placeholder 2"/>
          <p:cNvSpPr>
            <a:spLocks noGrp="1"/>
          </p:cNvSpPr>
          <p:nvPr>
            <p:ph type="body" idx="1"/>
          </p:nvPr>
        </p:nvSpPr>
        <p:spPr>
          <a:xfrm>
            <a:off x="646111" y="1836315"/>
            <a:ext cx="4396338" cy="576262"/>
          </a:xfrm>
        </p:spPr>
        <p:txBody>
          <a:bodyPr/>
          <a:lstStyle/>
          <a:p>
            <a:r>
              <a:rPr lang="en-US" b="1" dirty="0" smtClean="0"/>
              <a:t>Adventure Genres</a:t>
            </a:r>
            <a:endParaRPr lang="en-US" b="1" dirty="0"/>
          </a:p>
        </p:txBody>
      </p:sp>
      <p:sp>
        <p:nvSpPr>
          <p:cNvPr id="4" name="Content Placeholder 3"/>
          <p:cNvSpPr>
            <a:spLocks noGrp="1"/>
          </p:cNvSpPr>
          <p:nvPr>
            <p:ph sz="half" idx="2"/>
          </p:nvPr>
        </p:nvSpPr>
        <p:spPr>
          <a:xfrm>
            <a:off x="646111" y="2650066"/>
            <a:ext cx="4396339" cy="2692400"/>
          </a:xfrm>
        </p:spPr>
        <p:txBody>
          <a:bodyPr/>
          <a:lstStyle/>
          <a:p>
            <a:pPr>
              <a:buFont typeface="Wingdings" panose="05000000000000000000" pitchFamily="2" charset="2"/>
              <a:buChar char="§"/>
            </a:pPr>
            <a:r>
              <a:rPr lang="en-US" dirty="0"/>
              <a:t>Focuses on exploration and </a:t>
            </a:r>
            <a:r>
              <a:rPr lang="en-US" dirty="0" smtClean="0"/>
              <a:t>journeys</a:t>
            </a:r>
          </a:p>
          <a:p>
            <a:pPr>
              <a:buFont typeface="Wingdings" panose="05000000000000000000" pitchFamily="2" charset="2"/>
              <a:buChar char="§"/>
            </a:pPr>
            <a:r>
              <a:rPr lang="en-US" dirty="0"/>
              <a:t>Includes quests, discoveries, and </a:t>
            </a:r>
            <a:r>
              <a:rPr lang="en-US" dirty="0" smtClean="0"/>
              <a:t>survival</a:t>
            </a:r>
          </a:p>
          <a:p>
            <a:pPr>
              <a:buFont typeface="Wingdings" panose="05000000000000000000" pitchFamily="2" charset="2"/>
              <a:buChar char="§"/>
            </a:pPr>
            <a:r>
              <a:rPr lang="en-US" dirty="0"/>
              <a:t>Often set in exotic or imaginary </a:t>
            </a:r>
            <a:r>
              <a:rPr lang="en-US" dirty="0" smtClean="0"/>
              <a:t>locations</a:t>
            </a:r>
          </a:p>
          <a:p>
            <a:pPr>
              <a:buFont typeface="Wingdings" panose="05000000000000000000" pitchFamily="2" charset="2"/>
              <a:buChar char="§"/>
            </a:pPr>
            <a:r>
              <a:rPr lang="en-US" dirty="0"/>
              <a:t>Combines excitement with storytelling</a:t>
            </a:r>
          </a:p>
        </p:txBody>
      </p:sp>
      <p:sp>
        <p:nvSpPr>
          <p:cNvPr id="5" name="Text Placeholder 4"/>
          <p:cNvSpPr>
            <a:spLocks noGrp="1"/>
          </p:cNvSpPr>
          <p:nvPr>
            <p:ph type="body" sz="quarter" idx="3"/>
          </p:nvPr>
        </p:nvSpPr>
        <p:spPr>
          <a:xfrm>
            <a:off x="5527495" y="1836315"/>
            <a:ext cx="4396339" cy="576262"/>
          </a:xfrm>
        </p:spPr>
        <p:txBody>
          <a:bodyPr/>
          <a:lstStyle/>
          <a:p>
            <a:r>
              <a:rPr lang="en-US" b="1" dirty="0" smtClean="0"/>
              <a:t>Example</a:t>
            </a:r>
            <a:endParaRPr lang="en-US" b="1" dirty="0"/>
          </a:p>
        </p:txBody>
      </p:sp>
      <p:sp>
        <p:nvSpPr>
          <p:cNvPr id="6" name="Content Placeholder 5"/>
          <p:cNvSpPr>
            <a:spLocks noGrp="1"/>
          </p:cNvSpPr>
          <p:nvPr>
            <p:ph sz="quarter" idx="4"/>
          </p:nvPr>
        </p:nvSpPr>
        <p:spPr>
          <a:xfrm>
            <a:off x="5555230" y="5063068"/>
            <a:ext cx="1780462" cy="380998"/>
          </a:xfrm>
        </p:spPr>
        <p:txBody>
          <a:bodyPr/>
          <a:lstStyle/>
          <a:p>
            <a:pPr marL="0" indent="0" algn="ctr">
              <a:buNone/>
            </a:pPr>
            <a:r>
              <a:rPr lang="en-US" dirty="0" smtClean="0"/>
              <a:t>HTTY Dragon 3</a:t>
            </a:r>
            <a:endParaRPr lang="en-US" dirty="0"/>
          </a:p>
        </p:txBody>
      </p:sp>
      <p:pic>
        <p:nvPicPr>
          <p:cNvPr id="4103" name="Picture 7"/>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10004163" y="2650066"/>
            <a:ext cx="1504845" cy="22608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11" name="Content Placeholder 5"/>
          <p:cNvSpPr txBox="1">
            <a:spLocks/>
          </p:cNvSpPr>
          <p:nvPr/>
        </p:nvSpPr>
        <p:spPr>
          <a:xfrm>
            <a:off x="7739532" y="5063068"/>
            <a:ext cx="1780462" cy="38099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Arial" panose="020B0604020202020204" pitchFamily="34" charset="0"/>
                <a:ea typeface="+mj-ea"/>
                <a:cs typeface="Arial" panose="020B0604020202020204" pitchFamily="34" charset="0"/>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Arial" panose="020B0604020202020204" pitchFamily="34" charset="0"/>
                <a:ea typeface="+mj-ea"/>
                <a:cs typeface="Arial" panose="020B0604020202020204" pitchFamily="34" charset="0"/>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Arial" panose="020B0604020202020204" pitchFamily="34" charset="0"/>
                <a:ea typeface="+mj-ea"/>
                <a:cs typeface="Arial" panose="020B0604020202020204" pitchFamily="34" charset="0"/>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Arial" panose="020B0604020202020204" pitchFamily="34" charset="0"/>
                <a:ea typeface="+mj-ea"/>
                <a:cs typeface="Arial" panose="020B0604020202020204" pitchFamily="34" charset="0"/>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Arial" panose="020B0604020202020204" pitchFamily="34" charset="0"/>
                <a:ea typeface="+mj-ea"/>
                <a:cs typeface="Arial" panose="020B0604020202020204" pitchFamily="34" charset="0"/>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9pPr>
          </a:lstStyle>
          <a:p>
            <a:pPr marL="0" indent="0" algn="ctr">
              <a:buFont typeface="Wingdings 3" charset="2"/>
              <a:buNone/>
            </a:pPr>
            <a:r>
              <a:rPr lang="en-US" dirty="0" smtClean="0"/>
              <a:t>King Kong</a:t>
            </a:r>
            <a:endParaRPr lang="en-US" dirty="0"/>
          </a:p>
        </p:txBody>
      </p:sp>
      <p:sp>
        <p:nvSpPr>
          <p:cNvPr id="12" name="Content Placeholder 5"/>
          <p:cNvSpPr txBox="1">
            <a:spLocks/>
          </p:cNvSpPr>
          <p:nvPr/>
        </p:nvSpPr>
        <p:spPr>
          <a:xfrm>
            <a:off x="9923834" y="5063068"/>
            <a:ext cx="1780462" cy="38099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Arial" panose="020B0604020202020204" pitchFamily="34" charset="0"/>
                <a:ea typeface="+mj-ea"/>
                <a:cs typeface="Arial" panose="020B0604020202020204" pitchFamily="34" charset="0"/>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Arial" panose="020B0604020202020204" pitchFamily="34" charset="0"/>
                <a:ea typeface="+mj-ea"/>
                <a:cs typeface="Arial" panose="020B0604020202020204" pitchFamily="34" charset="0"/>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Arial" panose="020B0604020202020204" pitchFamily="34" charset="0"/>
                <a:ea typeface="+mj-ea"/>
                <a:cs typeface="Arial" panose="020B0604020202020204" pitchFamily="34" charset="0"/>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Arial" panose="020B0604020202020204" pitchFamily="34" charset="0"/>
                <a:ea typeface="+mj-ea"/>
                <a:cs typeface="Arial" panose="020B0604020202020204" pitchFamily="34" charset="0"/>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Arial" panose="020B0604020202020204" pitchFamily="34" charset="0"/>
                <a:ea typeface="+mj-ea"/>
                <a:cs typeface="Arial" panose="020B0604020202020204" pitchFamily="34" charset="0"/>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9pPr>
          </a:lstStyle>
          <a:p>
            <a:pPr marL="0" indent="0" algn="ctr">
              <a:buFont typeface="Wingdings 3" charset="2"/>
              <a:buNone/>
            </a:pPr>
            <a:r>
              <a:rPr lang="en-US" dirty="0" smtClean="0"/>
              <a:t>Jurassic World</a:t>
            </a:r>
            <a:endParaRPr lang="en-US" dirty="0"/>
          </a:p>
        </p:txBody>
      </p:sp>
      <p:pic>
        <p:nvPicPr>
          <p:cNvPr id="5122" name="Picture 2" descr="Imag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08690" y="2650066"/>
            <a:ext cx="1599029" cy="22608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5124" name="Picture 4" descr="Image 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76163" y="2650066"/>
            <a:ext cx="1507200" cy="22608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3489423"/>
      </p:ext>
    </p:extLst>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5378" y="688409"/>
            <a:ext cx="9404723" cy="1003549"/>
          </a:xfrm>
        </p:spPr>
        <p:txBody>
          <a:bodyPr/>
          <a:lstStyle/>
          <a:p>
            <a:r>
              <a:rPr lang="en-US" dirty="0" smtClean="0"/>
              <a:t>Genre - Comedy</a:t>
            </a:r>
            <a:endParaRPr lang="en-US" dirty="0"/>
          </a:p>
        </p:txBody>
      </p:sp>
      <p:sp>
        <p:nvSpPr>
          <p:cNvPr id="3" name="Text Placeholder 2"/>
          <p:cNvSpPr>
            <a:spLocks noGrp="1"/>
          </p:cNvSpPr>
          <p:nvPr>
            <p:ph type="body" idx="1"/>
          </p:nvPr>
        </p:nvSpPr>
        <p:spPr>
          <a:xfrm>
            <a:off x="646111" y="1836315"/>
            <a:ext cx="4396338" cy="576262"/>
          </a:xfrm>
        </p:spPr>
        <p:txBody>
          <a:bodyPr/>
          <a:lstStyle/>
          <a:p>
            <a:r>
              <a:rPr lang="en-US" b="1" dirty="0" smtClean="0"/>
              <a:t>Comedy Genres</a:t>
            </a:r>
            <a:endParaRPr lang="en-US" b="1" dirty="0"/>
          </a:p>
        </p:txBody>
      </p:sp>
      <p:sp>
        <p:nvSpPr>
          <p:cNvPr id="4" name="Content Placeholder 3"/>
          <p:cNvSpPr>
            <a:spLocks noGrp="1"/>
          </p:cNvSpPr>
          <p:nvPr>
            <p:ph sz="half" idx="2"/>
          </p:nvPr>
        </p:nvSpPr>
        <p:spPr>
          <a:xfrm>
            <a:off x="646111" y="2650066"/>
            <a:ext cx="4396339" cy="2692400"/>
          </a:xfrm>
        </p:spPr>
        <p:txBody>
          <a:bodyPr/>
          <a:lstStyle/>
          <a:p>
            <a:pPr>
              <a:buFont typeface="Wingdings" panose="05000000000000000000" pitchFamily="2" charset="2"/>
              <a:buChar char="§"/>
            </a:pPr>
            <a:r>
              <a:rPr lang="en-US" dirty="0"/>
              <a:t>Designed to entertain and amuse </a:t>
            </a:r>
            <a:r>
              <a:rPr lang="en-US" dirty="0" smtClean="0"/>
              <a:t>audiences</a:t>
            </a:r>
          </a:p>
          <a:p>
            <a:pPr>
              <a:buFont typeface="Wingdings" panose="05000000000000000000" pitchFamily="2" charset="2"/>
              <a:buChar char="§"/>
            </a:pPr>
            <a:r>
              <a:rPr lang="en-US" dirty="0"/>
              <a:t>Uses humor, satire, and exaggerated </a:t>
            </a:r>
            <a:r>
              <a:rPr lang="en-US" dirty="0" smtClean="0"/>
              <a:t>situations</a:t>
            </a:r>
          </a:p>
          <a:p>
            <a:pPr>
              <a:buFont typeface="Wingdings" panose="05000000000000000000" pitchFamily="2" charset="2"/>
              <a:buChar char="§"/>
            </a:pPr>
            <a:r>
              <a:rPr lang="en-US" dirty="0"/>
              <a:t>Can be situational, romantic, or dark </a:t>
            </a:r>
            <a:r>
              <a:rPr lang="en-US" dirty="0" smtClean="0"/>
              <a:t>comedy</a:t>
            </a:r>
          </a:p>
          <a:p>
            <a:pPr>
              <a:buFont typeface="Wingdings" panose="05000000000000000000" pitchFamily="2" charset="2"/>
              <a:buChar char="§"/>
            </a:pPr>
            <a:r>
              <a:rPr lang="en-US" dirty="0"/>
              <a:t>Often light-hearted and relatable</a:t>
            </a:r>
          </a:p>
        </p:txBody>
      </p:sp>
      <p:sp>
        <p:nvSpPr>
          <p:cNvPr id="5" name="Text Placeholder 4"/>
          <p:cNvSpPr>
            <a:spLocks noGrp="1"/>
          </p:cNvSpPr>
          <p:nvPr>
            <p:ph type="body" sz="quarter" idx="3"/>
          </p:nvPr>
        </p:nvSpPr>
        <p:spPr>
          <a:xfrm>
            <a:off x="5527495" y="1836315"/>
            <a:ext cx="4396339" cy="576262"/>
          </a:xfrm>
        </p:spPr>
        <p:txBody>
          <a:bodyPr/>
          <a:lstStyle/>
          <a:p>
            <a:r>
              <a:rPr lang="en-US" b="1" dirty="0" smtClean="0"/>
              <a:t>Example</a:t>
            </a:r>
            <a:endParaRPr lang="en-US" b="1" dirty="0"/>
          </a:p>
        </p:txBody>
      </p:sp>
      <p:sp>
        <p:nvSpPr>
          <p:cNvPr id="6" name="Content Placeholder 5"/>
          <p:cNvSpPr>
            <a:spLocks noGrp="1"/>
          </p:cNvSpPr>
          <p:nvPr>
            <p:ph sz="quarter" idx="4"/>
          </p:nvPr>
        </p:nvSpPr>
        <p:spPr>
          <a:xfrm>
            <a:off x="5555230" y="5063068"/>
            <a:ext cx="1780462" cy="380998"/>
          </a:xfrm>
        </p:spPr>
        <p:txBody>
          <a:bodyPr/>
          <a:lstStyle/>
          <a:p>
            <a:pPr marL="0" indent="0" algn="ctr">
              <a:buNone/>
            </a:pPr>
            <a:r>
              <a:rPr lang="en-US" dirty="0" smtClean="0"/>
              <a:t>Hera </a:t>
            </a:r>
            <a:r>
              <a:rPr lang="en-US" dirty="0" err="1" smtClean="0"/>
              <a:t>Pheri</a:t>
            </a:r>
            <a:endParaRPr lang="en-US" dirty="0"/>
          </a:p>
        </p:txBody>
      </p:sp>
      <p:pic>
        <p:nvPicPr>
          <p:cNvPr id="4103" name="Picture 7"/>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10004163" y="2651832"/>
            <a:ext cx="1504845" cy="225726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11" name="Content Placeholder 5"/>
          <p:cNvSpPr txBox="1">
            <a:spLocks/>
          </p:cNvSpPr>
          <p:nvPr/>
        </p:nvSpPr>
        <p:spPr>
          <a:xfrm>
            <a:off x="7739532" y="5063068"/>
            <a:ext cx="1780462" cy="38099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Arial" panose="020B0604020202020204" pitchFamily="34" charset="0"/>
                <a:ea typeface="+mj-ea"/>
                <a:cs typeface="Arial" panose="020B0604020202020204" pitchFamily="34" charset="0"/>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Arial" panose="020B0604020202020204" pitchFamily="34" charset="0"/>
                <a:ea typeface="+mj-ea"/>
                <a:cs typeface="Arial" panose="020B0604020202020204" pitchFamily="34" charset="0"/>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Arial" panose="020B0604020202020204" pitchFamily="34" charset="0"/>
                <a:ea typeface="+mj-ea"/>
                <a:cs typeface="Arial" panose="020B0604020202020204" pitchFamily="34" charset="0"/>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Arial" panose="020B0604020202020204" pitchFamily="34" charset="0"/>
                <a:ea typeface="+mj-ea"/>
                <a:cs typeface="Arial" panose="020B0604020202020204" pitchFamily="34" charset="0"/>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Arial" panose="020B0604020202020204" pitchFamily="34" charset="0"/>
                <a:ea typeface="+mj-ea"/>
                <a:cs typeface="Arial" panose="020B0604020202020204" pitchFamily="34" charset="0"/>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9pPr>
          </a:lstStyle>
          <a:p>
            <a:pPr marL="0" indent="0" algn="ctr">
              <a:buFont typeface="Wingdings 3" charset="2"/>
              <a:buNone/>
            </a:pPr>
            <a:r>
              <a:rPr lang="en-US" dirty="0" smtClean="0"/>
              <a:t>Home Alone</a:t>
            </a:r>
            <a:endParaRPr lang="en-US" dirty="0"/>
          </a:p>
        </p:txBody>
      </p:sp>
      <p:sp>
        <p:nvSpPr>
          <p:cNvPr id="12" name="Content Placeholder 5"/>
          <p:cNvSpPr txBox="1">
            <a:spLocks/>
          </p:cNvSpPr>
          <p:nvPr/>
        </p:nvSpPr>
        <p:spPr>
          <a:xfrm>
            <a:off x="9923834" y="5063068"/>
            <a:ext cx="1780462" cy="38099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Arial" panose="020B0604020202020204" pitchFamily="34" charset="0"/>
                <a:ea typeface="+mj-ea"/>
                <a:cs typeface="Arial" panose="020B0604020202020204" pitchFamily="34" charset="0"/>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Arial" panose="020B0604020202020204" pitchFamily="34" charset="0"/>
                <a:ea typeface="+mj-ea"/>
                <a:cs typeface="Arial" panose="020B0604020202020204" pitchFamily="34" charset="0"/>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Arial" panose="020B0604020202020204" pitchFamily="34" charset="0"/>
                <a:ea typeface="+mj-ea"/>
                <a:cs typeface="Arial" panose="020B0604020202020204" pitchFamily="34" charset="0"/>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Arial" panose="020B0604020202020204" pitchFamily="34" charset="0"/>
                <a:ea typeface="+mj-ea"/>
                <a:cs typeface="Arial" panose="020B0604020202020204" pitchFamily="34" charset="0"/>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Arial" panose="020B0604020202020204" pitchFamily="34" charset="0"/>
                <a:ea typeface="+mj-ea"/>
                <a:cs typeface="Arial" panose="020B0604020202020204" pitchFamily="34" charset="0"/>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9pPr>
          </a:lstStyle>
          <a:p>
            <a:pPr marL="0" indent="0" algn="ctr">
              <a:buFont typeface="Wingdings 3" charset="2"/>
              <a:buNone/>
            </a:pPr>
            <a:r>
              <a:rPr lang="en-US" dirty="0" err="1" smtClean="0"/>
              <a:t>Golmaal</a:t>
            </a:r>
            <a:endParaRPr lang="en-US" dirty="0"/>
          </a:p>
        </p:txBody>
      </p:sp>
      <p:pic>
        <p:nvPicPr>
          <p:cNvPr id="5124" name="Picture 4"/>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7876163" y="2650066"/>
            <a:ext cx="1507200" cy="22608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7" name="AutoShape 2" descr="Image 4"/>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150" name="Picture 6" descr="Imag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55230" y="2650066"/>
            <a:ext cx="1660627" cy="22608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4878772"/>
      </p:ext>
    </p:extLst>
  </p:cSld>
  <p:clrMapOvr>
    <a:masterClrMapping/>
  </p:clrMapOvr>
  <p:transition spd="slow">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5378" y="688409"/>
            <a:ext cx="9404723" cy="1003549"/>
          </a:xfrm>
        </p:spPr>
        <p:txBody>
          <a:bodyPr/>
          <a:lstStyle/>
          <a:p>
            <a:r>
              <a:rPr lang="en-US" dirty="0" smtClean="0"/>
              <a:t>Genre - Horror</a:t>
            </a:r>
            <a:endParaRPr lang="en-US" dirty="0"/>
          </a:p>
        </p:txBody>
      </p:sp>
      <p:sp>
        <p:nvSpPr>
          <p:cNvPr id="3" name="Text Placeholder 2"/>
          <p:cNvSpPr>
            <a:spLocks noGrp="1"/>
          </p:cNvSpPr>
          <p:nvPr>
            <p:ph type="body" idx="1"/>
          </p:nvPr>
        </p:nvSpPr>
        <p:spPr>
          <a:xfrm>
            <a:off x="646111" y="1836315"/>
            <a:ext cx="4396338" cy="576262"/>
          </a:xfrm>
        </p:spPr>
        <p:txBody>
          <a:bodyPr/>
          <a:lstStyle/>
          <a:p>
            <a:r>
              <a:rPr lang="en-US" b="1" dirty="0" smtClean="0"/>
              <a:t>Horror Genres</a:t>
            </a:r>
            <a:endParaRPr lang="en-US" b="1" dirty="0"/>
          </a:p>
        </p:txBody>
      </p:sp>
      <p:sp>
        <p:nvSpPr>
          <p:cNvPr id="4" name="Content Placeholder 3"/>
          <p:cNvSpPr>
            <a:spLocks noGrp="1"/>
          </p:cNvSpPr>
          <p:nvPr>
            <p:ph sz="half" idx="2"/>
          </p:nvPr>
        </p:nvSpPr>
        <p:spPr>
          <a:xfrm>
            <a:off x="646111" y="2650066"/>
            <a:ext cx="4396339" cy="2692400"/>
          </a:xfrm>
        </p:spPr>
        <p:txBody>
          <a:bodyPr/>
          <a:lstStyle/>
          <a:p>
            <a:pPr>
              <a:buFont typeface="Wingdings" panose="05000000000000000000" pitchFamily="2" charset="2"/>
              <a:buChar char="§"/>
            </a:pPr>
            <a:r>
              <a:rPr lang="en-US" dirty="0"/>
              <a:t>Aims to create fear and </a:t>
            </a:r>
            <a:r>
              <a:rPr lang="en-US" dirty="0" smtClean="0"/>
              <a:t>suspense</a:t>
            </a:r>
          </a:p>
          <a:p>
            <a:pPr>
              <a:buFont typeface="Wingdings" panose="05000000000000000000" pitchFamily="2" charset="2"/>
              <a:buChar char="§"/>
            </a:pPr>
            <a:r>
              <a:rPr lang="en-US" dirty="0"/>
              <a:t>Uses eerie atmosphere and </a:t>
            </a:r>
            <a:r>
              <a:rPr lang="en-US" dirty="0" smtClean="0"/>
              <a:t>tension</a:t>
            </a:r>
          </a:p>
          <a:p>
            <a:pPr>
              <a:buFont typeface="Wingdings" panose="05000000000000000000" pitchFamily="2" charset="2"/>
              <a:buChar char="§"/>
            </a:pPr>
            <a:r>
              <a:rPr lang="en-US" dirty="0"/>
              <a:t>Common themes include the supernatural and psychological </a:t>
            </a:r>
            <a:r>
              <a:rPr lang="en-US" dirty="0" smtClean="0"/>
              <a:t>fear</a:t>
            </a:r>
          </a:p>
          <a:p>
            <a:pPr>
              <a:buFont typeface="Wingdings" panose="05000000000000000000" pitchFamily="2" charset="2"/>
              <a:buChar char="§"/>
            </a:pPr>
            <a:r>
              <a:rPr lang="en-US" dirty="0"/>
              <a:t>Strong emotional impact on viewers</a:t>
            </a:r>
          </a:p>
        </p:txBody>
      </p:sp>
      <p:sp>
        <p:nvSpPr>
          <p:cNvPr id="5" name="Text Placeholder 4"/>
          <p:cNvSpPr>
            <a:spLocks noGrp="1"/>
          </p:cNvSpPr>
          <p:nvPr>
            <p:ph type="body" sz="quarter" idx="3"/>
          </p:nvPr>
        </p:nvSpPr>
        <p:spPr>
          <a:xfrm>
            <a:off x="5527495" y="1836315"/>
            <a:ext cx="4396339" cy="576262"/>
          </a:xfrm>
        </p:spPr>
        <p:txBody>
          <a:bodyPr/>
          <a:lstStyle/>
          <a:p>
            <a:r>
              <a:rPr lang="en-US" b="1" dirty="0" smtClean="0"/>
              <a:t>Example</a:t>
            </a:r>
            <a:endParaRPr lang="en-US" b="1" dirty="0"/>
          </a:p>
        </p:txBody>
      </p:sp>
      <p:sp>
        <p:nvSpPr>
          <p:cNvPr id="6" name="Content Placeholder 5"/>
          <p:cNvSpPr>
            <a:spLocks noGrp="1"/>
          </p:cNvSpPr>
          <p:nvPr>
            <p:ph sz="quarter" idx="4"/>
          </p:nvPr>
        </p:nvSpPr>
        <p:spPr>
          <a:xfrm>
            <a:off x="5555230" y="5063068"/>
            <a:ext cx="1780462" cy="380998"/>
          </a:xfrm>
        </p:spPr>
        <p:txBody>
          <a:bodyPr/>
          <a:lstStyle/>
          <a:p>
            <a:pPr marL="0" indent="0" algn="ctr">
              <a:buNone/>
            </a:pPr>
            <a:r>
              <a:rPr lang="en-US" dirty="0" smtClean="0"/>
              <a:t>Sinister</a:t>
            </a:r>
            <a:endParaRPr lang="en-US" dirty="0"/>
          </a:p>
        </p:txBody>
      </p:sp>
      <p:pic>
        <p:nvPicPr>
          <p:cNvPr id="4103" name="Picture 7"/>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004163" y="2692217"/>
            <a:ext cx="1504845" cy="217649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11" name="Content Placeholder 5"/>
          <p:cNvSpPr txBox="1">
            <a:spLocks/>
          </p:cNvSpPr>
          <p:nvPr/>
        </p:nvSpPr>
        <p:spPr>
          <a:xfrm>
            <a:off x="7739532" y="5063068"/>
            <a:ext cx="1780462" cy="38099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Arial" panose="020B0604020202020204" pitchFamily="34" charset="0"/>
                <a:ea typeface="+mj-ea"/>
                <a:cs typeface="Arial" panose="020B0604020202020204" pitchFamily="34" charset="0"/>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Arial" panose="020B0604020202020204" pitchFamily="34" charset="0"/>
                <a:ea typeface="+mj-ea"/>
                <a:cs typeface="Arial" panose="020B0604020202020204" pitchFamily="34" charset="0"/>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Arial" panose="020B0604020202020204" pitchFamily="34" charset="0"/>
                <a:ea typeface="+mj-ea"/>
                <a:cs typeface="Arial" panose="020B0604020202020204" pitchFamily="34" charset="0"/>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Arial" panose="020B0604020202020204" pitchFamily="34" charset="0"/>
                <a:ea typeface="+mj-ea"/>
                <a:cs typeface="Arial" panose="020B0604020202020204" pitchFamily="34" charset="0"/>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Arial" panose="020B0604020202020204" pitchFamily="34" charset="0"/>
                <a:ea typeface="+mj-ea"/>
                <a:cs typeface="Arial" panose="020B0604020202020204" pitchFamily="34" charset="0"/>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9pPr>
          </a:lstStyle>
          <a:p>
            <a:pPr marL="0" indent="0" algn="ctr">
              <a:buFont typeface="Wingdings 3" charset="2"/>
              <a:buNone/>
            </a:pPr>
            <a:r>
              <a:rPr lang="en-US" dirty="0" smtClean="0"/>
              <a:t>The Ring</a:t>
            </a:r>
            <a:endParaRPr lang="en-US" dirty="0"/>
          </a:p>
        </p:txBody>
      </p:sp>
      <p:sp>
        <p:nvSpPr>
          <p:cNvPr id="12" name="Content Placeholder 5"/>
          <p:cNvSpPr txBox="1">
            <a:spLocks/>
          </p:cNvSpPr>
          <p:nvPr/>
        </p:nvSpPr>
        <p:spPr>
          <a:xfrm>
            <a:off x="9923834" y="5063068"/>
            <a:ext cx="1780462" cy="38099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Arial" panose="020B0604020202020204" pitchFamily="34" charset="0"/>
                <a:ea typeface="+mj-ea"/>
                <a:cs typeface="Arial" panose="020B0604020202020204" pitchFamily="34" charset="0"/>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Arial" panose="020B0604020202020204" pitchFamily="34" charset="0"/>
                <a:ea typeface="+mj-ea"/>
                <a:cs typeface="Arial" panose="020B0604020202020204" pitchFamily="34" charset="0"/>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Arial" panose="020B0604020202020204" pitchFamily="34" charset="0"/>
                <a:ea typeface="+mj-ea"/>
                <a:cs typeface="Arial" panose="020B0604020202020204" pitchFamily="34" charset="0"/>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Arial" panose="020B0604020202020204" pitchFamily="34" charset="0"/>
                <a:ea typeface="+mj-ea"/>
                <a:cs typeface="Arial" panose="020B0604020202020204" pitchFamily="34" charset="0"/>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Arial" panose="020B0604020202020204" pitchFamily="34" charset="0"/>
                <a:ea typeface="+mj-ea"/>
                <a:cs typeface="Arial" panose="020B0604020202020204" pitchFamily="34" charset="0"/>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9pPr>
          </a:lstStyle>
          <a:p>
            <a:pPr marL="0" indent="0" algn="ctr">
              <a:buFont typeface="Wingdings 3" charset="2"/>
              <a:buNone/>
            </a:pPr>
            <a:r>
              <a:rPr lang="en-US" dirty="0" err="1" smtClean="0"/>
              <a:t>Tumbbad</a:t>
            </a:r>
            <a:endParaRPr lang="en-US"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646323" y="2650066"/>
            <a:ext cx="1523762" cy="22608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5124" name="Picture 4"/>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7876163" y="2680487"/>
            <a:ext cx="1507200" cy="219995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7" name="AutoShape 2" descr="Image 4"/>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940748138"/>
      </p:ext>
    </p:extLst>
  </p:cSld>
  <p:clrMapOvr>
    <a:masterClrMapping/>
  </p:clrMapOvr>
  <p:transition spd="slow">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5378" y="688409"/>
            <a:ext cx="9404723" cy="1003549"/>
          </a:xfrm>
        </p:spPr>
        <p:txBody>
          <a:bodyPr/>
          <a:lstStyle/>
          <a:p>
            <a:r>
              <a:rPr lang="en-US" dirty="0" smtClean="0"/>
              <a:t>Genre - Thriller</a:t>
            </a:r>
            <a:endParaRPr lang="en-US" dirty="0"/>
          </a:p>
        </p:txBody>
      </p:sp>
      <p:sp>
        <p:nvSpPr>
          <p:cNvPr id="3" name="Text Placeholder 2"/>
          <p:cNvSpPr>
            <a:spLocks noGrp="1"/>
          </p:cNvSpPr>
          <p:nvPr>
            <p:ph type="body" idx="1"/>
          </p:nvPr>
        </p:nvSpPr>
        <p:spPr>
          <a:xfrm>
            <a:off x="646111" y="1836315"/>
            <a:ext cx="4396338" cy="576262"/>
          </a:xfrm>
        </p:spPr>
        <p:txBody>
          <a:bodyPr/>
          <a:lstStyle/>
          <a:p>
            <a:r>
              <a:rPr lang="en-US" b="1" dirty="0" smtClean="0"/>
              <a:t>Thriller Genres</a:t>
            </a:r>
            <a:endParaRPr lang="en-US" b="1" dirty="0"/>
          </a:p>
        </p:txBody>
      </p:sp>
      <p:sp>
        <p:nvSpPr>
          <p:cNvPr id="4" name="Content Placeholder 3"/>
          <p:cNvSpPr>
            <a:spLocks noGrp="1"/>
          </p:cNvSpPr>
          <p:nvPr>
            <p:ph sz="half" idx="2"/>
          </p:nvPr>
        </p:nvSpPr>
        <p:spPr>
          <a:xfrm>
            <a:off x="646111" y="2650066"/>
            <a:ext cx="4676660" cy="2692400"/>
          </a:xfrm>
        </p:spPr>
        <p:txBody>
          <a:bodyPr/>
          <a:lstStyle/>
          <a:p>
            <a:pPr>
              <a:buFont typeface="Wingdings" panose="05000000000000000000" pitchFamily="2" charset="2"/>
              <a:buChar char="§"/>
            </a:pPr>
            <a:r>
              <a:rPr lang="en-US" dirty="0"/>
              <a:t>Builds tension and </a:t>
            </a:r>
            <a:r>
              <a:rPr lang="en-US" dirty="0" smtClean="0"/>
              <a:t>suspense</a:t>
            </a:r>
          </a:p>
          <a:p>
            <a:pPr>
              <a:buFont typeface="Wingdings" panose="05000000000000000000" pitchFamily="2" charset="2"/>
              <a:buChar char="§"/>
            </a:pPr>
            <a:r>
              <a:rPr lang="en-US" dirty="0"/>
              <a:t>Involves mystery, crime, or psychological </a:t>
            </a:r>
            <a:r>
              <a:rPr lang="en-US" dirty="0" smtClean="0"/>
              <a:t>elements</a:t>
            </a:r>
          </a:p>
          <a:p>
            <a:pPr>
              <a:buFont typeface="Wingdings" panose="05000000000000000000" pitchFamily="2" charset="2"/>
              <a:buChar char="§"/>
            </a:pPr>
            <a:r>
              <a:rPr lang="en-US" dirty="0"/>
              <a:t>Keeps viewers guessing until the </a:t>
            </a:r>
            <a:r>
              <a:rPr lang="en-US" dirty="0" smtClean="0"/>
              <a:t>end</a:t>
            </a:r>
          </a:p>
          <a:p>
            <a:pPr>
              <a:buFont typeface="Wingdings" panose="05000000000000000000" pitchFamily="2" charset="2"/>
              <a:buChar char="§"/>
            </a:pPr>
            <a:r>
              <a:rPr lang="en-US" dirty="0"/>
              <a:t>Often includes plot twists</a:t>
            </a:r>
          </a:p>
        </p:txBody>
      </p:sp>
      <p:sp>
        <p:nvSpPr>
          <p:cNvPr id="5" name="Text Placeholder 4"/>
          <p:cNvSpPr>
            <a:spLocks noGrp="1"/>
          </p:cNvSpPr>
          <p:nvPr>
            <p:ph type="body" sz="quarter" idx="3"/>
          </p:nvPr>
        </p:nvSpPr>
        <p:spPr>
          <a:xfrm>
            <a:off x="5527495" y="1836315"/>
            <a:ext cx="4396339" cy="576262"/>
          </a:xfrm>
        </p:spPr>
        <p:txBody>
          <a:bodyPr/>
          <a:lstStyle/>
          <a:p>
            <a:r>
              <a:rPr lang="en-US" b="1" dirty="0" smtClean="0"/>
              <a:t>Example</a:t>
            </a:r>
            <a:endParaRPr lang="en-US" b="1" dirty="0"/>
          </a:p>
        </p:txBody>
      </p:sp>
      <p:sp>
        <p:nvSpPr>
          <p:cNvPr id="6" name="Content Placeholder 5"/>
          <p:cNvSpPr>
            <a:spLocks noGrp="1"/>
          </p:cNvSpPr>
          <p:nvPr>
            <p:ph sz="quarter" idx="4"/>
          </p:nvPr>
        </p:nvSpPr>
        <p:spPr>
          <a:xfrm>
            <a:off x="5603355" y="5063068"/>
            <a:ext cx="1780462" cy="380998"/>
          </a:xfrm>
        </p:spPr>
        <p:txBody>
          <a:bodyPr/>
          <a:lstStyle/>
          <a:p>
            <a:pPr marL="0" indent="0" algn="ctr">
              <a:buNone/>
            </a:pPr>
            <a:r>
              <a:rPr lang="en-US" dirty="0" smtClean="0"/>
              <a:t>Oppenheimer</a:t>
            </a:r>
            <a:endParaRPr lang="en-US" dirty="0"/>
          </a:p>
        </p:txBody>
      </p:sp>
      <p:pic>
        <p:nvPicPr>
          <p:cNvPr id="4103" name="Picture 7"/>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10079211" y="2692217"/>
            <a:ext cx="1507199" cy="22608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11" name="Content Placeholder 5"/>
          <p:cNvSpPr txBox="1">
            <a:spLocks/>
          </p:cNvSpPr>
          <p:nvPr/>
        </p:nvSpPr>
        <p:spPr>
          <a:xfrm>
            <a:off x="7787657" y="5063068"/>
            <a:ext cx="1780462" cy="380998"/>
          </a:xfrm>
          <a:prstGeom prst="rect">
            <a:avLst/>
          </a:prstGeom>
        </p:spPr>
        <p:txBody>
          <a:bodyPr vert="horz" lIns="91440" tIns="45720" rIns="91440" bIns="45720" rtlCol="0">
            <a:normAutofit fontScale="925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Arial" panose="020B0604020202020204" pitchFamily="34" charset="0"/>
                <a:ea typeface="+mj-ea"/>
                <a:cs typeface="Arial" panose="020B0604020202020204" pitchFamily="34" charset="0"/>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Arial" panose="020B0604020202020204" pitchFamily="34" charset="0"/>
                <a:ea typeface="+mj-ea"/>
                <a:cs typeface="Arial" panose="020B0604020202020204" pitchFamily="34" charset="0"/>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Arial" panose="020B0604020202020204" pitchFamily="34" charset="0"/>
                <a:ea typeface="+mj-ea"/>
                <a:cs typeface="Arial" panose="020B0604020202020204" pitchFamily="34" charset="0"/>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Arial" panose="020B0604020202020204" pitchFamily="34" charset="0"/>
                <a:ea typeface="+mj-ea"/>
                <a:cs typeface="Arial" panose="020B0604020202020204" pitchFamily="34" charset="0"/>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Arial" panose="020B0604020202020204" pitchFamily="34" charset="0"/>
                <a:ea typeface="+mj-ea"/>
                <a:cs typeface="Arial" panose="020B0604020202020204" pitchFamily="34" charset="0"/>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9pPr>
          </a:lstStyle>
          <a:p>
            <a:pPr marL="0" indent="0" algn="ctr">
              <a:buFont typeface="Wingdings 3" charset="2"/>
              <a:buNone/>
            </a:pPr>
            <a:r>
              <a:rPr lang="en-US" dirty="0" smtClean="0"/>
              <a:t>The Family Man</a:t>
            </a:r>
            <a:endParaRPr lang="en-US" dirty="0"/>
          </a:p>
        </p:txBody>
      </p:sp>
      <p:sp>
        <p:nvSpPr>
          <p:cNvPr id="12" name="Content Placeholder 5"/>
          <p:cNvSpPr txBox="1">
            <a:spLocks/>
          </p:cNvSpPr>
          <p:nvPr/>
        </p:nvSpPr>
        <p:spPr>
          <a:xfrm>
            <a:off x="9981585" y="5063067"/>
            <a:ext cx="1780462" cy="596587"/>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Arial" panose="020B0604020202020204" pitchFamily="34" charset="0"/>
                <a:ea typeface="+mj-ea"/>
                <a:cs typeface="Arial" panose="020B0604020202020204" pitchFamily="34" charset="0"/>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Arial" panose="020B0604020202020204" pitchFamily="34" charset="0"/>
                <a:ea typeface="+mj-ea"/>
                <a:cs typeface="Arial" panose="020B0604020202020204" pitchFamily="34" charset="0"/>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Arial" panose="020B0604020202020204" pitchFamily="34" charset="0"/>
                <a:ea typeface="+mj-ea"/>
                <a:cs typeface="Arial" panose="020B0604020202020204" pitchFamily="34" charset="0"/>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Arial" panose="020B0604020202020204" pitchFamily="34" charset="0"/>
                <a:ea typeface="+mj-ea"/>
                <a:cs typeface="Arial" panose="020B0604020202020204" pitchFamily="34" charset="0"/>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Arial" panose="020B0604020202020204" pitchFamily="34" charset="0"/>
                <a:ea typeface="+mj-ea"/>
                <a:cs typeface="Arial" panose="020B0604020202020204" pitchFamily="34" charset="0"/>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9pPr>
          </a:lstStyle>
          <a:p>
            <a:pPr marL="0" indent="0" algn="ctr">
              <a:buFont typeface="Wingdings 3" charset="2"/>
              <a:buNone/>
            </a:pPr>
            <a:r>
              <a:rPr lang="en-US" dirty="0" smtClean="0"/>
              <a:t>Alice In Borderland</a:t>
            </a:r>
            <a:endParaRPr lang="en-US" dirty="0"/>
          </a:p>
        </p:txBody>
      </p:sp>
      <p:pic>
        <p:nvPicPr>
          <p:cNvPr id="5124" name="Picture 4"/>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7968795" y="2692217"/>
            <a:ext cx="1418185" cy="22608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7" name="AutoShape 2" descr="Image 4"/>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2" descr="Image 5"/>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220" name="Picture 4" descr="Imag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69364" y="2692217"/>
            <a:ext cx="1507200" cy="22608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4038592"/>
      </p:ext>
    </p:extLst>
  </p:cSld>
  <p:clrMapOvr>
    <a:masterClrMapping/>
  </p:clrMapOvr>
  <p:transition spd="slow">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5378" y="688409"/>
            <a:ext cx="9404723" cy="1003549"/>
          </a:xfrm>
        </p:spPr>
        <p:txBody>
          <a:bodyPr/>
          <a:lstStyle/>
          <a:p>
            <a:r>
              <a:rPr lang="en-US" dirty="0" smtClean="0"/>
              <a:t>Genre - Drama</a:t>
            </a:r>
            <a:endParaRPr lang="en-US" dirty="0"/>
          </a:p>
        </p:txBody>
      </p:sp>
      <p:sp>
        <p:nvSpPr>
          <p:cNvPr id="3" name="Text Placeholder 2"/>
          <p:cNvSpPr>
            <a:spLocks noGrp="1"/>
          </p:cNvSpPr>
          <p:nvPr>
            <p:ph type="body" idx="1"/>
          </p:nvPr>
        </p:nvSpPr>
        <p:spPr>
          <a:xfrm>
            <a:off x="646111" y="1836315"/>
            <a:ext cx="4396338" cy="576262"/>
          </a:xfrm>
        </p:spPr>
        <p:txBody>
          <a:bodyPr/>
          <a:lstStyle/>
          <a:p>
            <a:r>
              <a:rPr lang="en-US" b="1" dirty="0" smtClean="0"/>
              <a:t>Drama Genres</a:t>
            </a:r>
            <a:endParaRPr lang="en-US" b="1" dirty="0"/>
          </a:p>
        </p:txBody>
      </p:sp>
      <p:sp>
        <p:nvSpPr>
          <p:cNvPr id="4" name="Content Placeholder 3"/>
          <p:cNvSpPr>
            <a:spLocks noGrp="1"/>
          </p:cNvSpPr>
          <p:nvPr>
            <p:ph sz="half" idx="2"/>
          </p:nvPr>
        </p:nvSpPr>
        <p:spPr>
          <a:xfrm>
            <a:off x="646111" y="2650066"/>
            <a:ext cx="4396339" cy="2692400"/>
          </a:xfrm>
        </p:spPr>
        <p:txBody>
          <a:bodyPr/>
          <a:lstStyle/>
          <a:p>
            <a:pPr>
              <a:buFont typeface="Wingdings" panose="05000000000000000000" pitchFamily="2" charset="2"/>
              <a:buChar char="§"/>
            </a:pPr>
            <a:r>
              <a:rPr lang="en-US" dirty="0"/>
              <a:t>Focuses on emotional and realistic </a:t>
            </a:r>
            <a:r>
              <a:rPr lang="en-US" dirty="0" smtClean="0"/>
              <a:t>storytelling</a:t>
            </a:r>
          </a:p>
          <a:p>
            <a:pPr>
              <a:buFont typeface="Wingdings" panose="05000000000000000000" pitchFamily="2" charset="2"/>
              <a:buChar char="§"/>
            </a:pPr>
            <a:r>
              <a:rPr lang="en-US" dirty="0"/>
              <a:t>Explores relationships and personal </a:t>
            </a:r>
            <a:r>
              <a:rPr lang="en-US" dirty="0" smtClean="0"/>
              <a:t>struggles</a:t>
            </a:r>
          </a:p>
          <a:p>
            <a:pPr>
              <a:buFont typeface="Wingdings" panose="05000000000000000000" pitchFamily="2" charset="2"/>
              <a:buChar char="§"/>
            </a:pPr>
            <a:r>
              <a:rPr lang="en-US" dirty="0"/>
              <a:t>Strong character </a:t>
            </a:r>
            <a:r>
              <a:rPr lang="en-US" dirty="0" smtClean="0"/>
              <a:t>development</a:t>
            </a:r>
          </a:p>
          <a:p>
            <a:pPr>
              <a:buFont typeface="Wingdings" panose="05000000000000000000" pitchFamily="2" charset="2"/>
              <a:buChar char="§"/>
            </a:pPr>
            <a:r>
              <a:rPr lang="en-US" dirty="0"/>
              <a:t>Often inspired by real-life situations</a:t>
            </a:r>
          </a:p>
        </p:txBody>
      </p:sp>
      <p:sp>
        <p:nvSpPr>
          <p:cNvPr id="5" name="Text Placeholder 4"/>
          <p:cNvSpPr>
            <a:spLocks noGrp="1"/>
          </p:cNvSpPr>
          <p:nvPr>
            <p:ph type="body" sz="quarter" idx="3"/>
          </p:nvPr>
        </p:nvSpPr>
        <p:spPr>
          <a:xfrm>
            <a:off x="5527495" y="1836315"/>
            <a:ext cx="4396339" cy="576262"/>
          </a:xfrm>
        </p:spPr>
        <p:txBody>
          <a:bodyPr/>
          <a:lstStyle/>
          <a:p>
            <a:r>
              <a:rPr lang="en-US" b="1" dirty="0" smtClean="0"/>
              <a:t>Example</a:t>
            </a:r>
            <a:endParaRPr lang="en-US" b="1" dirty="0"/>
          </a:p>
        </p:txBody>
      </p:sp>
      <p:sp>
        <p:nvSpPr>
          <p:cNvPr id="6" name="Content Placeholder 5"/>
          <p:cNvSpPr>
            <a:spLocks noGrp="1"/>
          </p:cNvSpPr>
          <p:nvPr>
            <p:ph sz="quarter" idx="4"/>
          </p:nvPr>
        </p:nvSpPr>
        <p:spPr>
          <a:xfrm>
            <a:off x="5555230" y="5063068"/>
            <a:ext cx="1780462" cy="380998"/>
          </a:xfrm>
        </p:spPr>
        <p:txBody>
          <a:bodyPr>
            <a:normAutofit fontScale="92500"/>
          </a:bodyPr>
          <a:lstStyle/>
          <a:p>
            <a:pPr marL="0" indent="0" algn="ctr">
              <a:buNone/>
            </a:pPr>
            <a:r>
              <a:rPr lang="en-US" dirty="0" err="1" smtClean="0"/>
              <a:t>Khuda</a:t>
            </a:r>
            <a:r>
              <a:rPr lang="en-US" dirty="0" smtClean="0"/>
              <a:t> Kay </a:t>
            </a:r>
            <a:r>
              <a:rPr lang="en-US" dirty="0" err="1" smtClean="0"/>
              <a:t>Liye</a:t>
            </a:r>
            <a:endParaRPr lang="en-US" dirty="0"/>
          </a:p>
        </p:txBody>
      </p:sp>
      <p:pic>
        <p:nvPicPr>
          <p:cNvPr id="4103" name="Picture 7"/>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9772421" y="12238543"/>
            <a:ext cx="1563132" cy="22608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11" name="Content Placeholder 5"/>
          <p:cNvSpPr txBox="1">
            <a:spLocks/>
          </p:cNvSpPr>
          <p:nvPr/>
        </p:nvSpPr>
        <p:spPr>
          <a:xfrm>
            <a:off x="7739532" y="5063068"/>
            <a:ext cx="1780462" cy="38099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Arial" panose="020B0604020202020204" pitchFamily="34" charset="0"/>
                <a:ea typeface="+mj-ea"/>
                <a:cs typeface="Arial" panose="020B0604020202020204" pitchFamily="34" charset="0"/>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Arial" panose="020B0604020202020204" pitchFamily="34" charset="0"/>
                <a:ea typeface="+mj-ea"/>
                <a:cs typeface="Arial" panose="020B0604020202020204" pitchFamily="34" charset="0"/>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Arial" panose="020B0604020202020204" pitchFamily="34" charset="0"/>
                <a:ea typeface="+mj-ea"/>
                <a:cs typeface="Arial" panose="020B0604020202020204" pitchFamily="34" charset="0"/>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Arial" panose="020B0604020202020204" pitchFamily="34" charset="0"/>
                <a:ea typeface="+mj-ea"/>
                <a:cs typeface="Arial" panose="020B0604020202020204" pitchFamily="34" charset="0"/>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Arial" panose="020B0604020202020204" pitchFamily="34" charset="0"/>
                <a:ea typeface="+mj-ea"/>
                <a:cs typeface="Arial" panose="020B0604020202020204" pitchFamily="34" charset="0"/>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9pPr>
          </a:lstStyle>
          <a:p>
            <a:pPr marL="0" indent="0" algn="ctr">
              <a:buFont typeface="Wingdings 3" charset="2"/>
              <a:buNone/>
            </a:pPr>
            <a:r>
              <a:rPr lang="en-US" dirty="0" smtClean="0"/>
              <a:t>Kota Factory</a:t>
            </a:r>
            <a:endParaRPr lang="en-US" dirty="0"/>
          </a:p>
        </p:txBody>
      </p:sp>
      <p:sp>
        <p:nvSpPr>
          <p:cNvPr id="12" name="Content Placeholder 5"/>
          <p:cNvSpPr txBox="1">
            <a:spLocks/>
          </p:cNvSpPr>
          <p:nvPr/>
        </p:nvSpPr>
        <p:spPr>
          <a:xfrm>
            <a:off x="9923834" y="5063068"/>
            <a:ext cx="1780462" cy="38099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Arial" panose="020B0604020202020204" pitchFamily="34" charset="0"/>
                <a:ea typeface="+mj-ea"/>
                <a:cs typeface="Arial" panose="020B0604020202020204" pitchFamily="34" charset="0"/>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Arial" panose="020B0604020202020204" pitchFamily="34" charset="0"/>
                <a:ea typeface="+mj-ea"/>
                <a:cs typeface="Arial" panose="020B0604020202020204" pitchFamily="34" charset="0"/>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Arial" panose="020B0604020202020204" pitchFamily="34" charset="0"/>
                <a:ea typeface="+mj-ea"/>
                <a:cs typeface="Arial" panose="020B0604020202020204" pitchFamily="34" charset="0"/>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Arial" panose="020B0604020202020204" pitchFamily="34" charset="0"/>
                <a:ea typeface="+mj-ea"/>
                <a:cs typeface="Arial" panose="020B0604020202020204" pitchFamily="34" charset="0"/>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Arial" panose="020B0604020202020204" pitchFamily="34" charset="0"/>
                <a:ea typeface="+mj-ea"/>
                <a:cs typeface="Arial" panose="020B0604020202020204" pitchFamily="34" charset="0"/>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9pPr>
          </a:lstStyle>
          <a:p>
            <a:pPr marL="0" indent="0" algn="ctr">
              <a:buFont typeface="Wingdings 3" charset="2"/>
              <a:buNone/>
            </a:pPr>
            <a:r>
              <a:rPr lang="en-US" dirty="0" err="1" smtClean="0"/>
              <a:t>Bol</a:t>
            </a:r>
            <a:endParaRPr lang="en-US"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646323" y="2684726"/>
            <a:ext cx="1574466" cy="22644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5124" name="Picture 4"/>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807847" y="2688326"/>
            <a:ext cx="1643831" cy="22608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7" name="AutoShape 2" descr="Image 4"/>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194" name="Picture 2" descr="Imag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923834" y="2688326"/>
            <a:ext cx="1507200" cy="22608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4213371"/>
      </p:ext>
    </p:extLst>
  </p:cSld>
  <p:clrMapOvr>
    <a:masterClrMapping/>
  </p:clrMapOvr>
  <p:transition spd="slow">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770352"/>
            <a:ext cx="9404723" cy="856318"/>
          </a:xfrm>
        </p:spPr>
        <p:txBody>
          <a:bodyPr/>
          <a:lstStyle/>
          <a:p>
            <a:r>
              <a:rPr lang="en-US" dirty="0" smtClean="0"/>
              <a:t>Key Features of CINESTOP</a:t>
            </a:r>
            <a:endParaRPr lang="en-US" dirty="0"/>
          </a:p>
        </p:txBody>
      </p:sp>
      <p:sp>
        <p:nvSpPr>
          <p:cNvPr id="3" name="Text Placeholder 2"/>
          <p:cNvSpPr>
            <a:spLocks noGrp="1"/>
          </p:cNvSpPr>
          <p:nvPr>
            <p:ph type="body" idx="1"/>
          </p:nvPr>
        </p:nvSpPr>
        <p:spPr>
          <a:xfrm>
            <a:off x="489571" y="2583515"/>
            <a:ext cx="3217159" cy="704214"/>
          </a:xfrm>
        </p:spPr>
        <p:txBody>
          <a:bodyPr/>
          <a:lstStyle/>
          <a:p>
            <a:r>
              <a:rPr lang="en-US" b="1" dirty="0"/>
              <a:t>Ratings &amp; Reviews Section</a:t>
            </a:r>
            <a:endParaRPr lang="en-US" dirty="0"/>
          </a:p>
        </p:txBody>
      </p:sp>
      <p:sp>
        <p:nvSpPr>
          <p:cNvPr id="4" name="Text Placeholder 3"/>
          <p:cNvSpPr>
            <a:spLocks noGrp="1"/>
          </p:cNvSpPr>
          <p:nvPr>
            <p:ph type="body" sz="half" idx="15"/>
          </p:nvPr>
        </p:nvSpPr>
        <p:spPr>
          <a:xfrm>
            <a:off x="543869" y="3426592"/>
            <a:ext cx="3108565" cy="3388010"/>
          </a:xfrm>
        </p:spPr>
        <p:txBody>
          <a:bodyPr>
            <a:normAutofit/>
          </a:bodyPr>
          <a:lstStyle/>
          <a:p>
            <a:pPr marL="285750" indent="-285750">
              <a:buFont typeface="Arial" panose="020B0604020202020204" pitchFamily="34" charset="0"/>
              <a:buChar char="•"/>
            </a:pPr>
            <a:r>
              <a:rPr lang="en-US" sz="2000" dirty="0"/>
              <a:t>Builds </a:t>
            </a:r>
            <a:r>
              <a:rPr lang="en-US" sz="2000" dirty="0" smtClean="0"/>
              <a:t>trust</a:t>
            </a:r>
          </a:p>
          <a:p>
            <a:pPr marL="285750" indent="-285750">
              <a:buFont typeface="Arial" panose="020B0604020202020204" pitchFamily="34" charset="0"/>
              <a:buChar char="•"/>
            </a:pPr>
            <a:r>
              <a:rPr lang="en-US" sz="2000" dirty="0"/>
              <a:t>Helps compare content </a:t>
            </a:r>
            <a:r>
              <a:rPr lang="en-US" sz="2000" dirty="0" smtClean="0"/>
              <a:t>easily</a:t>
            </a:r>
          </a:p>
          <a:p>
            <a:pPr marL="285750" indent="-285750">
              <a:buFont typeface="Arial" panose="020B0604020202020204" pitchFamily="34" charset="0"/>
              <a:buChar char="•"/>
            </a:pPr>
            <a:r>
              <a:rPr lang="en-US" sz="2000" dirty="0"/>
              <a:t>Improves user decision-making</a:t>
            </a:r>
          </a:p>
        </p:txBody>
      </p:sp>
      <p:sp>
        <p:nvSpPr>
          <p:cNvPr id="5" name="Text Placeholder 4"/>
          <p:cNvSpPr>
            <a:spLocks noGrp="1"/>
          </p:cNvSpPr>
          <p:nvPr>
            <p:ph type="body" sz="quarter" idx="3"/>
          </p:nvPr>
        </p:nvSpPr>
        <p:spPr>
          <a:xfrm>
            <a:off x="3880351" y="2548464"/>
            <a:ext cx="2936241" cy="739265"/>
          </a:xfrm>
        </p:spPr>
        <p:txBody>
          <a:bodyPr/>
          <a:lstStyle/>
          <a:p>
            <a:r>
              <a:rPr lang="en-US" b="1" dirty="0"/>
              <a:t>User-Friendly</a:t>
            </a:r>
            <a:r>
              <a:rPr lang="en-US" b="1" dirty="0"/>
              <a:t> Navigation</a:t>
            </a:r>
            <a:endParaRPr lang="en-US" dirty="0"/>
          </a:p>
        </p:txBody>
      </p:sp>
      <p:sp>
        <p:nvSpPr>
          <p:cNvPr id="6" name="Text Placeholder 5"/>
          <p:cNvSpPr>
            <a:spLocks noGrp="1"/>
          </p:cNvSpPr>
          <p:nvPr>
            <p:ph type="body" sz="half" idx="16"/>
          </p:nvPr>
        </p:nvSpPr>
        <p:spPr>
          <a:xfrm>
            <a:off x="3862553" y="3426592"/>
            <a:ext cx="2946794" cy="3407921"/>
          </a:xfrm>
        </p:spPr>
        <p:txBody>
          <a:bodyPr>
            <a:normAutofit/>
          </a:bodyPr>
          <a:lstStyle/>
          <a:p>
            <a:pPr marL="285750" indent="-285750">
              <a:buFont typeface="Arial" panose="020B0604020202020204" pitchFamily="34" charset="0"/>
              <a:buChar char="•"/>
            </a:pPr>
            <a:r>
              <a:rPr lang="en-US" sz="2000" dirty="0"/>
              <a:t>Clear </a:t>
            </a:r>
            <a:r>
              <a:rPr lang="en-US" sz="2000" dirty="0" smtClean="0"/>
              <a:t>menus</a:t>
            </a:r>
          </a:p>
          <a:p>
            <a:pPr marL="285750" indent="-285750">
              <a:buFont typeface="Arial" panose="020B0604020202020204" pitchFamily="34" charset="0"/>
              <a:buChar char="•"/>
            </a:pPr>
            <a:r>
              <a:rPr lang="en-US" sz="2000" dirty="0"/>
              <a:t>Organized </a:t>
            </a:r>
            <a:r>
              <a:rPr lang="en-US" sz="2000" dirty="0" smtClean="0"/>
              <a:t>layout</a:t>
            </a:r>
          </a:p>
          <a:p>
            <a:pPr marL="285750" indent="-285750">
              <a:buFont typeface="Arial" panose="020B0604020202020204" pitchFamily="34" charset="0"/>
              <a:buChar char="•"/>
            </a:pPr>
            <a:r>
              <a:rPr lang="en-US" sz="2000" dirty="0"/>
              <a:t>Easy browsing experience</a:t>
            </a:r>
          </a:p>
        </p:txBody>
      </p:sp>
      <p:sp>
        <p:nvSpPr>
          <p:cNvPr id="7" name="Text Placeholder 6"/>
          <p:cNvSpPr>
            <a:spLocks noGrp="1"/>
          </p:cNvSpPr>
          <p:nvPr>
            <p:ph type="body" sz="quarter" idx="13"/>
          </p:nvPr>
        </p:nvSpPr>
        <p:spPr>
          <a:xfrm>
            <a:off x="7423083" y="2711467"/>
            <a:ext cx="3039578" cy="576262"/>
          </a:xfrm>
        </p:spPr>
        <p:txBody>
          <a:bodyPr/>
          <a:lstStyle/>
          <a:p>
            <a:r>
              <a:rPr lang="en-US" b="1" dirty="0"/>
              <a:t>Data &amp; Visualization</a:t>
            </a:r>
            <a:endParaRPr lang="en-US" dirty="0"/>
          </a:p>
        </p:txBody>
      </p:sp>
      <p:sp>
        <p:nvSpPr>
          <p:cNvPr id="8" name="Text Placeholder 7"/>
          <p:cNvSpPr>
            <a:spLocks noGrp="1"/>
          </p:cNvSpPr>
          <p:nvPr>
            <p:ph type="body" sz="half" idx="17"/>
          </p:nvPr>
        </p:nvSpPr>
        <p:spPr>
          <a:xfrm>
            <a:off x="7423083" y="3406680"/>
            <a:ext cx="3549717" cy="3407922"/>
          </a:xfrm>
        </p:spPr>
        <p:txBody>
          <a:bodyPr>
            <a:normAutofit/>
          </a:bodyPr>
          <a:lstStyle/>
          <a:p>
            <a:pPr marL="342900" indent="-342900">
              <a:buFont typeface="Arial" panose="020B0604020202020204" pitchFamily="34" charset="0"/>
              <a:buChar char="•"/>
            </a:pPr>
            <a:r>
              <a:rPr lang="en-US" sz="2000" dirty="0"/>
              <a:t>Genre distribution </a:t>
            </a:r>
            <a:r>
              <a:rPr lang="en-US" sz="2000" dirty="0" smtClean="0"/>
              <a:t>charts</a:t>
            </a:r>
          </a:p>
          <a:p>
            <a:pPr marL="342900" indent="-342900">
              <a:buFont typeface="Arial" panose="020B0604020202020204" pitchFamily="34" charset="0"/>
              <a:buChar char="•"/>
            </a:pPr>
            <a:r>
              <a:rPr lang="en-US" sz="2000" dirty="0" smtClean="0"/>
              <a:t>Proper Visual Representations</a:t>
            </a:r>
          </a:p>
          <a:p>
            <a:pPr marL="342900" indent="-342900">
              <a:buFont typeface="Arial" panose="020B0604020202020204" pitchFamily="34" charset="0"/>
              <a:buChar char="•"/>
            </a:pPr>
            <a:r>
              <a:rPr lang="en-US" sz="2000" dirty="0"/>
              <a:t>Average rating comparisons</a:t>
            </a:r>
          </a:p>
        </p:txBody>
      </p:sp>
    </p:spTree>
    <p:extLst>
      <p:ext uri="{BB962C8B-B14F-4D97-AF65-F5344CB8AC3E}">
        <p14:creationId xmlns:p14="http://schemas.microsoft.com/office/powerpoint/2010/main" val="3166542795"/>
      </p:ext>
    </p:extLst>
  </p:cSld>
  <p:clrMapOvr>
    <a:masterClrMapping/>
  </p:clrMapOvr>
  <p:transition spd="slow">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952570"/>
          </a:xfrm>
        </p:spPr>
        <p:txBody>
          <a:bodyPr/>
          <a:lstStyle/>
          <a:p>
            <a:r>
              <a:rPr lang="en-US" dirty="0" smtClean="0"/>
              <a:t>Visual Representatio</a:t>
            </a:r>
            <a:r>
              <a:rPr lang="en-US" dirty="0"/>
              <a:t>n</a:t>
            </a:r>
          </a:p>
        </p:txBody>
      </p:sp>
      <p:sp>
        <p:nvSpPr>
          <p:cNvPr id="3" name="Content Placeholder 2"/>
          <p:cNvSpPr>
            <a:spLocks noGrp="1"/>
          </p:cNvSpPr>
          <p:nvPr>
            <p:ph idx="1"/>
          </p:nvPr>
        </p:nvSpPr>
        <p:spPr>
          <a:xfrm>
            <a:off x="875201" y="1491154"/>
            <a:ext cx="8946541" cy="559027"/>
          </a:xfrm>
        </p:spPr>
        <p:txBody>
          <a:bodyPr>
            <a:normAutofit/>
          </a:bodyPr>
          <a:lstStyle/>
          <a:p>
            <a:pPr marL="0" indent="0">
              <a:buNone/>
            </a:pPr>
            <a:r>
              <a:rPr lang="en-US" sz="2400" b="1" dirty="0" smtClean="0"/>
              <a:t>Line-Chart:</a:t>
            </a:r>
            <a:endParaRPr lang="en-US" sz="2400" b="1" dirty="0"/>
          </a:p>
        </p:txBody>
      </p:sp>
      <p:graphicFrame>
        <p:nvGraphicFramePr>
          <p:cNvPr id="5" name="Chart 4"/>
          <p:cNvGraphicFramePr>
            <a:graphicFrameLocks/>
          </p:cNvGraphicFramePr>
          <p:nvPr>
            <p:extLst>
              <p:ext uri="{D42A27DB-BD31-4B8C-83A1-F6EECF244321}">
                <p14:modId xmlns:p14="http://schemas.microsoft.com/office/powerpoint/2010/main" val="2301299744"/>
              </p:ext>
            </p:extLst>
          </p:nvPr>
        </p:nvGraphicFramePr>
        <p:xfrm>
          <a:off x="2637323" y="1886552"/>
          <a:ext cx="6814686" cy="435061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96662347"/>
      </p:ext>
    </p:extLst>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952570"/>
          </a:xfrm>
        </p:spPr>
        <p:txBody>
          <a:bodyPr/>
          <a:lstStyle/>
          <a:p>
            <a:r>
              <a:rPr lang="en-US" dirty="0" smtClean="0"/>
              <a:t>Visual Representatio</a:t>
            </a:r>
            <a:r>
              <a:rPr lang="en-US" dirty="0"/>
              <a:t>n</a:t>
            </a:r>
          </a:p>
        </p:txBody>
      </p:sp>
      <p:sp>
        <p:nvSpPr>
          <p:cNvPr id="3" name="Content Placeholder 2"/>
          <p:cNvSpPr>
            <a:spLocks noGrp="1"/>
          </p:cNvSpPr>
          <p:nvPr>
            <p:ph idx="1"/>
          </p:nvPr>
        </p:nvSpPr>
        <p:spPr>
          <a:xfrm>
            <a:off x="875201" y="1491154"/>
            <a:ext cx="8946541" cy="559027"/>
          </a:xfrm>
        </p:spPr>
        <p:txBody>
          <a:bodyPr>
            <a:normAutofit/>
          </a:bodyPr>
          <a:lstStyle/>
          <a:p>
            <a:pPr marL="0" indent="0">
              <a:buNone/>
            </a:pPr>
            <a:r>
              <a:rPr lang="en-US" sz="2400" b="1" dirty="0" smtClean="0"/>
              <a:t>Pie-Chart:</a:t>
            </a:r>
            <a:endParaRPr lang="en-US" sz="2400" b="1" dirty="0"/>
          </a:p>
        </p:txBody>
      </p:sp>
      <p:graphicFrame>
        <p:nvGraphicFramePr>
          <p:cNvPr id="4" name="Chart 3"/>
          <p:cNvGraphicFramePr>
            <a:graphicFrameLocks/>
          </p:cNvGraphicFramePr>
          <p:nvPr>
            <p:extLst>
              <p:ext uri="{D42A27DB-BD31-4B8C-83A1-F6EECF244321}">
                <p14:modId xmlns:p14="http://schemas.microsoft.com/office/powerpoint/2010/main" val="3629384598"/>
              </p:ext>
            </p:extLst>
          </p:nvPr>
        </p:nvGraphicFramePr>
        <p:xfrm>
          <a:off x="2002057" y="2050181"/>
          <a:ext cx="7238196" cy="405223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96898992"/>
      </p:ext>
    </p:extLst>
  </p:cSld>
  <p:clrMapOvr>
    <a:masterClrMapping/>
  </p:clrMapOvr>
  <p:transition spd="slow">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962196"/>
          </a:xfrm>
        </p:spPr>
        <p:txBody>
          <a:bodyPr/>
          <a:lstStyle/>
          <a:p>
            <a:r>
              <a:rPr lang="en-US" dirty="0" smtClean="0"/>
              <a:t>Conclusion</a:t>
            </a:r>
            <a:endParaRPr lang="en-US" dirty="0"/>
          </a:p>
        </p:txBody>
      </p:sp>
      <p:sp>
        <p:nvSpPr>
          <p:cNvPr id="3" name="Content Placeholder 2"/>
          <p:cNvSpPr>
            <a:spLocks noGrp="1"/>
          </p:cNvSpPr>
          <p:nvPr>
            <p:ph idx="1"/>
          </p:nvPr>
        </p:nvSpPr>
        <p:spPr>
          <a:xfrm>
            <a:off x="730823" y="1625905"/>
            <a:ext cx="10347856" cy="1367552"/>
          </a:xfrm>
        </p:spPr>
        <p:txBody>
          <a:bodyPr/>
          <a:lstStyle/>
          <a:p>
            <a:pPr marL="0" indent="0">
              <a:buNone/>
            </a:pPr>
            <a:r>
              <a:rPr lang="en-US" dirty="0"/>
              <a:t>CINESTOP successfully demonstrates how digital tools can be used to organize and present entertainment content in a clear and engaging manner. By combining structured genres, reliable ratings, and a user-friendly interface, the platform enhances the overall movie discovery experience.</a:t>
            </a:r>
          </a:p>
          <a:p>
            <a:pPr marL="0" indent="0">
              <a:buNone/>
            </a:pPr>
            <a:endParaRPr lang="en-US" dirty="0"/>
          </a:p>
        </p:txBody>
      </p:sp>
      <p:pic>
        <p:nvPicPr>
          <p:cNvPr id="10242" name="Picture 2" descr="This may contain: a man standing in front of an auditorium full of people with his back to the camer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1599" y="3001622"/>
            <a:ext cx="4307080" cy="286909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4" name="Rectangle 3"/>
          <p:cNvSpPr/>
          <p:nvPr/>
        </p:nvSpPr>
        <p:spPr>
          <a:xfrm>
            <a:off x="730823" y="3137071"/>
            <a:ext cx="5920234" cy="923330"/>
          </a:xfrm>
          <a:prstGeom prst="rect">
            <a:avLst/>
          </a:prstGeom>
        </p:spPr>
        <p:txBody>
          <a:bodyPr wrap="square">
            <a:spAutoFit/>
          </a:bodyPr>
          <a:lstStyle/>
          <a:p>
            <a:r>
              <a:rPr lang="en-US" dirty="0"/>
              <a:t>This project reflects effective use of technical skills, creativity, and thoughtful design, making CINESTOP a valuable and practical entertainment catalogue.</a:t>
            </a:r>
            <a:endParaRPr lang="en-US" dirty="0"/>
          </a:p>
        </p:txBody>
      </p:sp>
    </p:spTree>
    <p:extLst>
      <p:ext uri="{BB962C8B-B14F-4D97-AF65-F5344CB8AC3E}">
        <p14:creationId xmlns:p14="http://schemas.microsoft.com/office/powerpoint/2010/main" val="415448556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242"/>
                                        </p:tgtEl>
                                        <p:attrNameLst>
                                          <p:attrName>style.visibility</p:attrName>
                                        </p:attrNameLst>
                                      </p:cBhvr>
                                      <p:to>
                                        <p:strVal val="visible"/>
                                      </p:to>
                                    </p:set>
                                    <p:animEffect transition="in" filter="fade">
                                      <p:cBhvr>
                                        <p:cTn id="22" dur="500"/>
                                        <p:tgtEl>
                                          <p:spTgt spid="10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142</TotalTime>
  <Words>514</Words>
  <Application>Microsoft Office PowerPoint</Application>
  <PresentationFormat>Widescreen</PresentationFormat>
  <Paragraphs>115</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Arial Rounded MT Bold</vt:lpstr>
      <vt:lpstr>Calibri</vt:lpstr>
      <vt:lpstr>Century Gothic</vt:lpstr>
      <vt:lpstr>Wingdings</vt:lpstr>
      <vt:lpstr>Wingdings 3</vt:lpstr>
      <vt:lpstr>Ion</vt:lpstr>
      <vt:lpstr>CINESTOP</vt:lpstr>
      <vt:lpstr>Introduction - CINESTOP</vt:lpstr>
      <vt:lpstr>Genres</vt:lpstr>
      <vt:lpstr>Genre - Action</vt:lpstr>
      <vt:lpstr>Genre - Adventure</vt:lpstr>
      <vt:lpstr>Genre - Comedy</vt:lpstr>
      <vt:lpstr>Genre - Horror</vt:lpstr>
      <vt:lpstr>Genre - Thriller</vt:lpstr>
      <vt:lpstr>Genre - Drama</vt:lpstr>
      <vt:lpstr>Key Features of CINESTOP</vt:lpstr>
      <vt:lpstr>Visual Representation</vt:lpstr>
      <vt:lpstr>Visual Representation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CINESTOP</dc:title>
  <dc:creator>Pro-Reza-07</dc:creator>
  <cp:lastModifiedBy>Pro-Reza-07</cp:lastModifiedBy>
  <cp:revision>12</cp:revision>
  <dcterms:created xsi:type="dcterms:W3CDTF">2025-12-31T16:02:40Z</dcterms:created>
  <dcterms:modified xsi:type="dcterms:W3CDTF">2025-12-31T18:25:31Z</dcterms:modified>
</cp:coreProperties>
</file>